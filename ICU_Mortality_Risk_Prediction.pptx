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Welcome the audience and frame the project in one sentence: can routinely collected ICU data tell us which patients are most at risk of dying?
Key points to mention:
- Dataset: 15,000 ICU patient records sourced from Kaggle
- Two models were built and compared: Logistic Regression (interpretable) and XGBoost (flexible)
- The end product is a clinical SUPPORT tool — it flags risk, it does not make decisions
- This work sits at the intersection of machine learning and clinical safety, which is exactly what the AI in Medicine course is about
Tone: confident but grounded — there are real limitations here and we will be honest about them throughout.SLIDE 1 — Title
Welcome the audience and frame the project in one sentence: can routinely collected ICU data tell us which patients are most at risk of dying?
Key points:
- Dataset: 15,000 ICU patient records sourced from Kaggle
- Two models were built and compared: Logistic Regression (interpretable) and XGBoost (flexible)
- The end product is a clinical SUPPORT tool — it flags risk, it does not make decisions
- This work sits at the intersection of machine learning and clinical safety
Tone: confident but grounded — there are real limitations here and we will be honest about them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Project Overview
Use this slide to orient the audience to the three pillars of the project.
Objective card: The clinical motivation — ICU staff are overwhelmed and a risk score could prompt earlier escalation for patients who might otherwise be missed. The tool is designed to support rounds, handoffs, and admission reviews.
Dataset card: 15,000 patients with features spanning demographics, comorbidities, vital signs (mean/min/max/std), lab values (lactate, glucose), oxygenation (SpO2), and organ support flags. Mortality rate of 22.8% creates a class imbalance challenge worth flagging.
Approach card: Logistic Regression = clinical gold standard for risk scoring — explainable, calibrated, clinician-friendly. XGBoost = powerful gradient-boosted ensemble. We optimised thresholds using F1-score because catching deaths (recall) matters more than raw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Dataset &amp; Class Distribution
Use this slide to set up the class imbalance problem — it is the root cause of most limitations.
Key points:
- 15,000 patients: ~11,600 survivors (Label 0) vs ~3,400 deaths (Label 1) — roughly a 3.4:1 ratio
- The bar chart makes the imbalance visually obvious
- A naive model that always predicts "survived" would be right 77% of the time but clinically useless — this is why accuracy is not our metric
Transition: "With this imbalance in mind, let's look at which features actually differ between survivors and non-survivors."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Exploratory Data Analysis: Clinical Risk Factors
This slide focuses on the binary clinical flags that show the clearest separation between groups.
Sepsis flag: Patients with sepsis have a noticeably higher proportion of mortality. Clinically expected — sepsis is a leading cause of ICU death. Becomes one of the strongest predictors in both models.
Ventilation required: Patients requiring mechanical ventilation had higher mortality. Clinically intuitive — indicates severe respiratory failure.
Vasopressor use: Similar pattern. Vasopressors indicate haemodynamic instability and shock — strongly associated with death.
Admission type: Mortality is roughly EQUAL across Urgent, Emergency, and Elective. Admission type alone is NOT a strong discriminator — confirmed in the correlation matrix. Good sanity check on the data.
Key takeaway: The binary support flags (ventilation + vasopressors, combined as "critical_support") and sepsis are the clearest clinical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Feature Distributions by Outcome
Critical finding — it directly explains why model performance is modest.
Key point: Look at virtually any continuous feature — age, heart rate, systolic BP, SpO2, lactate, APACHE, SOFA — and the blue (survived) and orange (died) distributions OVERLAP almost completely.
There is no single feature where the two groups separate cleanly. The survived and non-survived populations look remarkably similar across almost all clinical variables.
Why this matters: Machine learning can only find signal that exists in the data. If distributions overlap this heavily, no model — no matter how complex — can achieve perfect separation. This is the fundamental reason both models land at AUROC ~0.61. It is not a failure of methods; it is a property of the dataset.
Notable exception: Lactate and APACHE/SOFA show slightly more separation. These contribute most to model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Feature Correlation Matrix
Quantitative confirmation of what we saw visually in the distributions.
Key points:
- The mortality_label row/column shows correlations close to zero for almost every feature (range: 0.00–0.06)
- Strongest correlates: ventilation_required (0.11), vasopressor_used (0.10), sepsis_flag (0.09)
- Age and comorbidity_score each correlate at ~0.06 — modest but clinically meaningful
Internal correlations worth mentioning:
- Heart rate mean, max, and min are highly inter-correlated (r &gt;= 0.87) — same vital sign measured differently. We address this with the engineered heart_rate_range feature.
- Most features are independent of each other — good for logistic regression
Bottom line: Weak individual correlations are the core challenge. This is why we engineered composite features (critical_support, shock_index, age_comorbidity) to capture multi-feature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Feature Importance: What Drives Risk?
Both models tell a consistent and clinically meaningful story.
Logistic Regression (left):
- critical_support (ventilation + vasopressor combined) has the largest coefficient (~0.37) — strongest predictor
- sepsis_flag is second (~0.21)
- comorbidity_score and age also contribute strongly — sicker, older patients are at higher risk
- Emphasize: because LR uses linear coefficients, clinicians can directly explain why a patient received a high score
XGBoost (right):
- critical_support and sepsis_flag dominate here too — consistent with logistic regression
- XGBoost spreads importance across many more features with smaller individual contributions — typical of tree-based models, and makes individual predictions harder to explain at the bedside
Key message: Both models agree on what matters most. Logistic Regression is more transparent about why, which is clinically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Model Performance Overview
Summary dashboard — use as a transition before diving into individual metrics.
Left (ROC curves): Both curves nearly overlap at AUC ~0.61. The dashed diagonal is random chance (0.5). Being above the diagonal confirms both models learned something real — but the gap from perfect (1.0) is significant.
Right (Calibration curves): This is where the models genuinely excel. Both track close to the perfect calibration diagonal. When the model says 30% mortality risk, roughly 30% of those patients actually died.
Key message: "We have two models that are modestly discriminative but well-calibrated. They won't perfectly rank every patient, but when they give you a number, that number is trustworthy. That is meaningful for a clinical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ROC &amp; Precision-Recall Curves
Two complementary views of the same models.
ROC Curve (left): AUC ~0.61 for both. Bootstrapped confidence intervals overlap — no statistically significant difference between models. Curves diverge slightly at low false-positive-rate — this is where clinical use would operate (flagging a minority of patients, not everyone).
Precision-Recall Curve (right): The harder test. Baseline AP for a no-skill model = 0.228 (the mortality rate). Both models achieve ~0.31 — meaningfully above baseline but showing rapid precision drop-off as recall increases.
- High threshold = high precision but low recall (only catching the obvious cases)
- Low threshold = high recall but low precision (many false alarms)
Transition: "The threshold we chose prioritises recall — catching as many true deaths as possible. Let's see what that trade-off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Probability Calibration
One of the most underappreciated properties in clinical ML.
What is calibration? A model is well-calibrated if its predicted probabilities match observed outcomes. If it says 40% risk, approximately 40% of those patients should die.
The chart: Both models track close to the dashed diagonal. Predictions cluster between 0.10–0.45 — the models rarely predict very high probabilities because the underlying signal is weak.
Brier Score = 0.171:
- Perfect prediction = 0.0
- Naive model always predicting the mean mortality rate = ~0.228
- Our score of 0.171 beats the naive baseline — the models add real probabilistic value
Clinical relevance: "When this model says a patient has a 35% mortality risk, that is a genuine, trustworthy probability estimate — not just a relative rank. This is what makes the tool usable in practice, even with modest discriminative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The Clinical Trade-Off
This is one of the most important slides for a clinical audience — it translates numbers into real-world consequences.
Metrics table walk-through:
- AUROC and PR-AUC: nearly identical — no winner on discrimination
- Brier Score: identical calibration — tied
- Recall 0.737 vs 0.773: XGBoost catches slightly more deaths — the only meaningful difference
- Precision 0.280 vs 0.270: to catch those extra deaths, XGBoost generates slightly more false alarms
Safety net framing:
- High recall = wide safety net: catches most deaths but also many survivors
- Low precision (~27%) = roughly 3 out of 4 flagged "high risk" patients will actually survive
The alarm fatigue problem: In a busy ICU, constant false alerts erode trust in the system. Clinical teams start ignoring alerts — a well-documented patient safety issue with alarm systems. This is a genuine operational risk.
Why Logistic Regression wins: Same performance, but every prediction can be explained. Clinicians can ask "why is this patient flagged?" and get a meaningful answer. XGBoost cannot provide this transparency.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Interpreting the Risk Score
Aimed at clinical users — use plain language.
Risk tiers:
- 0-30% (Lower Risk): Do NOT convey this as "safe." A 20% predicted mortality risk is clinically significant. Use as a prompt to cross-check against bedside findings, not as reassurance.
- 30-70% (Intermediate Risk): The uncertainty zone. Clinical judgment is most critical here. Escalate based on clinical trajectory, not the score alone.
- 70-100% (Higher Risk): A flag for closer attention — NOT automatic escalation. Cross-check with the bedside picture first.
The four questions (right panel): Walk through each as a mental checklist a clinician should run before acting:
1. Does the score match what I'm seeing at the bedside?
2. Is the input data complete and reliable?
3. Is the patient getting worse despite a low score?
4. Is the patient stable despite a high score?
Closing line to repeat clearly: "The score supports clinical judgment. It does not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Limitations &amp; Failure Modes
This slide demonstrates intellectual honesty — a key criterion for responsible AI in medicine.
Single Dataset Only: Tested only on the training dataset. No idea how this performs at another hospital or with different data collection practices. External validation is required before any real deployment.
Modest Discriminative Power: AUROC ~0.61 is not high. Frame it honestly as a risk-awareness aid, not a diagnostic tool.
False Positives &amp; Alarm Fatigue: Most operationally dangerous failure mode. 73% of high-risk flags are wrong. If clinical teams receive too many false alerts, they will stop acting on them — well-documented alarm fatigue.
False Negatives &amp; False Reassurance: 25% of patients who die will NOT be flagged. A low score should never lead a clinician to deprioritise a deteriorating patient.
No Subgroup Validation: We did not check whether the model performs equally across age groups, diagnoses, or admission types. It may underperform in specific populations. A critical gap.
Data Quality Dependency: The model was built on clean, complete data. Missing values, delayed labs, or data entry errors degrade performance in ways that are hard to detect at the bedside.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Human Override &amp; Clinical Workflow
Operationalises the tool — tells clinical users exactly what to do in each scenario.
Row by row:
High score, low clinical concern: The model may be picking up a data pattern that does not match the patient in front of you. Recheck inputs, reassess, but do not escalate on the score alone. Bedside takes priority.
Low score, high clinical concern: Never let a low score create false reassurance. If the patient looks sick, they are sick. The model missed it — this is a known failure mode.
Missing or unreliable data: The model was built on complete, clean data. Missing or outdated inputs make the output unreliable. Verify before relying on the score.
Patient outside validated population: Rare conditions, post-surgical patients, or very unusual presentations — treat the score with extra caution and as supplemental only.
High-stakes decisions: Goals-of-care, treatment limitation, end-of-life decisions — these must NEVER be based on a model score. They require senior clinical judgment, family discussion, and ethical review.
Bottom note: The tool fits best as a lightweight risk-awareness check during admission, handoff, or status changes — not as a decision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Conclusions
Bring everything together with an honest, confident summary.
Point 01: Both models perform modestly (AUROC ~0.61). We are not overclaiming. Weak signal in the dataset — not the modelling approach — is the primary constraint.
Point 02: Threshold optimisation gave us high-recall safety-net models (~75% recall). Catching deaths is the right clinical priority. But the 73% false-positive rate is a real operational problem requiring active management.
Point 03: Brier score ~0.171 is a genuine win. Both models are well-calibrated — their predicted probabilities can be trusted as actual risk estimates, not just relative rankings.
Point 04: Logistic Regression is the recommended model. Not because it outperformed XGBoost — it did not — but because equivalent performance with greater interpretability is always preferable in a clinical setting. Clinicians need to understand and trust their tools.
Point 05: External validation on held-out hospital data, subgroup analysis, and a prospective clinical study are all required before real-world deployment. This is a proof-of-concept, not a production tool.
Closing statement to deliver: "We built a well-calibrated, honest risk-awareness tool. It is imperfect — but it is transparent about its imperfections. That is exactly what responsible AI in medicine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Shape 1"/>
          <p:cNvSpPr/>
          <p:nvPr/>
        </p:nvSpPr>
        <p:spPr>
          <a:xfrm>
            <a:off x="6858000" y="3840480"/>
            <a:ext cx="2286000" cy="1303020"/>
          </a:xfrm>
          <a:prstGeom prst="rect">
            <a:avLst/>
          </a:prstGeom>
          <a:solidFill>
            <a:srgbClr val="0E3D3D">
              <a:alpha val="60000"/>
            </a:srgbClr>
          </a:solidFill>
          <a:ln w="12700">
            <a:solidFill>
              <a:srgbClr val="0E3D3D">
                <a:alpha val="60000"/>
              </a:srgbClr>
            </a:solidFill>
            <a:prstDash val="solid"/>
          </a:ln>
        </p:spPr>
      </p:sp>
      <p:sp>
        <p:nvSpPr>
          <p:cNvPr id="4" name="Text 2"/>
          <p:cNvSpPr/>
          <p:nvPr/>
        </p:nvSpPr>
        <p:spPr>
          <a:xfrm>
            <a:off x="411480" y="1005840"/>
            <a:ext cx="8321040" cy="100584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ICU Mortality Risk Prediction</a:t>
            </a:r>
            <a:endParaRPr lang="en-US" sz="4000" dirty="0"/>
          </a:p>
        </p:txBody>
      </p:sp>
      <p:sp>
        <p:nvSpPr>
          <p:cNvPr id="5" name="Text 3"/>
          <p:cNvSpPr/>
          <p:nvPr/>
        </p:nvSpPr>
        <p:spPr>
          <a:xfrm>
            <a:off x="411480" y="2057400"/>
            <a:ext cx="7315200" cy="548640"/>
          </a:xfrm>
          <a:prstGeom prst="rect">
            <a:avLst/>
          </a:prstGeom>
          <a:noFill/>
          <a:ln/>
        </p:spPr>
        <p:txBody>
          <a:bodyPr wrap="square" lIns="0" tIns="0" rIns="0" bIns="0" rtlCol="0" anchor="ctr"/>
          <a:lstStyle/>
          <a:p>
            <a:pPr algn="l" indent="0" marL="0">
              <a:buNone/>
            </a:pPr>
            <a:r>
              <a:rPr lang="en-US" sz="1800" i="1" dirty="0">
                <a:solidFill>
                  <a:srgbClr val="52B2CF"/>
                </a:solidFill>
                <a:latin typeface="Calibri" pitchFamily="34" charset="0"/>
                <a:ea typeface="Calibri" pitchFamily="34" charset="-122"/>
                <a:cs typeface="Calibri" pitchFamily="34" charset="-120"/>
              </a:rPr>
              <a:t>Using Routine ICU Data to Estimate Hospital Mortality</a:t>
            </a:r>
            <a:endParaRPr lang="en-US" sz="1800" dirty="0"/>
          </a:p>
        </p:txBody>
      </p:sp>
      <p:sp>
        <p:nvSpPr>
          <p:cNvPr id="6" name="Shape 4"/>
          <p:cNvSpPr/>
          <p:nvPr/>
        </p:nvSpPr>
        <p:spPr>
          <a:xfrm>
            <a:off x="411480" y="2743200"/>
            <a:ext cx="4114800" cy="36576"/>
          </a:xfrm>
          <a:prstGeom prst="rect">
            <a:avLst/>
          </a:prstGeom>
          <a:solidFill>
            <a:srgbClr val="0E7C7B"/>
          </a:solidFill>
          <a:ln w="12700">
            <a:solidFill>
              <a:srgbClr val="0E7C7B"/>
            </a:solidFill>
            <a:prstDash val="solid"/>
          </a:ln>
        </p:spPr>
      </p:sp>
      <p:sp>
        <p:nvSpPr>
          <p:cNvPr id="7" name="Text 5"/>
          <p:cNvSpPr/>
          <p:nvPr/>
        </p:nvSpPr>
        <p:spPr>
          <a:xfrm>
            <a:off x="411480" y="2926080"/>
            <a:ext cx="8229600" cy="365760"/>
          </a:xfrm>
          <a:prstGeom prst="rect">
            <a:avLst/>
          </a:prstGeom>
          <a:noFill/>
          <a:ln/>
        </p:spPr>
        <p:txBody>
          <a:bodyPr wrap="square" lIns="0" tIns="0" rIns="0" bIns="0" rtlCol="0" anchor="ctr"/>
          <a:lstStyle/>
          <a:p>
            <a:pPr algn="l" indent="0" marL="0">
              <a:buNone/>
            </a:pPr>
            <a:r>
              <a:rPr lang="en-US" sz="1300" dirty="0">
                <a:solidFill>
                  <a:srgbClr val="8896A8"/>
                </a:solidFill>
                <a:latin typeface="Calibri" pitchFamily="34" charset="0"/>
                <a:ea typeface="Calibri" pitchFamily="34" charset="-122"/>
                <a:cs typeface="Calibri" pitchFamily="34" charset="-120"/>
              </a:rPr>
              <a:t>Kaggle MIMIC-Inspired ICU Dataset  ·  Logistic Regression &amp; XGBoost  ·  n = 15,000</a:t>
            </a:r>
            <a:endParaRPr lang="en-US" sz="1300" dirty="0"/>
          </a:p>
        </p:txBody>
      </p:sp>
      <p:sp>
        <p:nvSpPr>
          <p:cNvPr id="8" name="Text 6"/>
          <p:cNvSpPr/>
          <p:nvPr/>
        </p:nvSpPr>
        <p:spPr>
          <a:xfrm>
            <a:off x="411480" y="4480560"/>
            <a:ext cx="8229600" cy="320040"/>
          </a:xfrm>
          <a:prstGeom prst="rect">
            <a:avLst/>
          </a:prstGeom>
          <a:noFill/>
          <a:ln/>
        </p:spPr>
        <p:txBody>
          <a:bodyPr wrap="square" lIns="0" tIns="0" rIns="0" bIns="0" rtlCol="0" anchor="ctr"/>
          <a:lstStyle/>
          <a:p>
            <a:pPr algn="l" indent="0" marL="0">
              <a:buNone/>
            </a:pPr>
            <a:r>
              <a:rPr lang="en-US" sz="1200" dirty="0">
                <a:solidFill>
                  <a:srgbClr val="8896A8"/>
                </a:solidFill>
                <a:latin typeface="Calibri" pitchFamily="34" charset="0"/>
                <a:ea typeface="Calibri" pitchFamily="34" charset="-122"/>
                <a:cs typeface="Calibri" pitchFamily="34" charset="-120"/>
              </a:rPr>
              <a:t>AI in Medicine Course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Project Overview</a:t>
            </a:r>
            <a:endParaRPr lang="en-US" sz="2400" dirty="0"/>
          </a:p>
        </p:txBody>
      </p:sp>
      <p:sp>
        <p:nvSpPr>
          <p:cNvPr id="4" name="Shape 2"/>
          <p:cNvSpPr/>
          <p:nvPr/>
        </p:nvSpPr>
        <p:spPr>
          <a:xfrm>
            <a:off x="274320" y="868680"/>
            <a:ext cx="2743200" cy="393192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868680"/>
            <a:ext cx="2743200" cy="73152"/>
          </a:xfrm>
          <a:prstGeom prst="rect">
            <a:avLst/>
          </a:prstGeom>
          <a:solidFill>
            <a:srgbClr val="0E7C7B"/>
          </a:solidFill>
          <a:ln w="12700">
            <a:solidFill>
              <a:srgbClr val="0E7C7B"/>
            </a:solidFill>
            <a:prstDash val="solid"/>
          </a:ln>
        </p:spPr>
      </p:sp>
      <p:sp>
        <p:nvSpPr>
          <p:cNvPr id="6" name="Shape 4"/>
          <p:cNvSpPr/>
          <p:nvPr/>
        </p:nvSpPr>
        <p:spPr>
          <a:xfrm>
            <a:off x="365760" y="1005840"/>
            <a:ext cx="502920" cy="502920"/>
          </a:xfrm>
          <a:prstGeom prst="ellipse">
            <a:avLst/>
          </a:prstGeom>
          <a:solidFill>
            <a:srgbClr val="0E7C7B"/>
          </a:solidFill>
          <a:ln w="12700">
            <a:solidFill>
              <a:srgbClr val="0E7C7B"/>
            </a:solidFill>
            <a:prstDash val="solid"/>
          </a:ln>
        </p:spPr>
      </p:sp>
      <p:sp>
        <p:nvSpPr>
          <p:cNvPr id="7" name="Text 5"/>
          <p:cNvSpPr/>
          <p:nvPr/>
        </p:nvSpPr>
        <p:spPr>
          <a:xfrm>
            <a:off x="365760" y="1005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384048" y="1600200"/>
            <a:ext cx="2523744" cy="365760"/>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Objective</a:t>
            </a:r>
            <a:endParaRPr lang="en-US" sz="1500" dirty="0"/>
          </a:p>
        </p:txBody>
      </p:sp>
      <p:sp>
        <p:nvSpPr>
          <p:cNvPr id="9" name="Text 7"/>
          <p:cNvSpPr/>
          <p:nvPr/>
        </p:nvSpPr>
        <p:spPr>
          <a:xfrm>
            <a:off x="384048" y="2057400"/>
            <a:ext cx="2523744" cy="25603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Build a mortality risk prediction tool using routinely collected ICU data to help clinical teams identify patients who may need closer monitoring or earlier escalation.</a:t>
            </a:r>
            <a:endParaRPr lang="en-US" sz="1200" dirty="0"/>
          </a:p>
        </p:txBody>
      </p:sp>
      <p:sp>
        <p:nvSpPr>
          <p:cNvPr id="10" name="Shape 8"/>
          <p:cNvSpPr/>
          <p:nvPr/>
        </p:nvSpPr>
        <p:spPr>
          <a:xfrm>
            <a:off x="3172968" y="868680"/>
            <a:ext cx="2743200" cy="393192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172968" y="868680"/>
            <a:ext cx="2743200" cy="73152"/>
          </a:xfrm>
          <a:prstGeom prst="rect">
            <a:avLst/>
          </a:prstGeom>
          <a:solidFill>
            <a:srgbClr val="0E7C7B"/>
          </a:solidFill>
          <a:ln w="12700">
            <a:solidFill>
              <a:srgbClr val="0E7C7B"/>
            </a:solidFill>
            <a:prstDash val="solid"/>
          </a:ln>
        </p:spPr>
      </p:sp>
      <p:sp>
        <p:nvSpPr>
          <p:cNvPr id="12" name="Shape 10"/>
          <p:cNvSpPr/>
          <p:nvPr/>
        </p:nvSpPr>
        <p:spPr>
          <a:xfrm>
            <a:off x="3264408" y="1005840"/>
            <a:ext cx="502920" cy="502920"/>
          </a:xfrm>
          <a:prstGeom prst="ellipse">
            <a:avLst/>
          </a:prstGeom>
          <a:solidFill>
            <a:srgbClr val="0E7C7B"/>
          </a:solidFill>
          <a:ln w="12700">
            <a:solidFill>
              <a:srgbClr val="0E7C7B"/>
            </a:solidFill>
            <a:prstDash val="solid"/>
          </a:ln>
        </p:spPr>
      </p:sp>
      <p:sp>
        <p:nvSpPr>
          <p:cNvPr id="13" name="Text 11"/>
          <p:cNvSpPr/>
          <p:nvPr/>
        </p:nvSpPr>
        <p:spPr>
          <a:xfrm>
            <a:off x="3264408" y="1005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3282696" y="1600200"/>
            <a:ext cx="2523744" cy="365760"/>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Dataset</a:t>
            </a:r>
            <a:endParaRPr lang="en-US" sz="1500" dirty="0"/>
          </a:p>
        </p:txBody>
      </p:sp>
      <p:sp>
        <p:nvSpPr>
          <p:cNvPr id="15" name="Text 13"/>
          <p:cNvSpPr/>
          <p:nvPr/>
        </p:nvSpPr>
        <p:spPr>
          <a:xfrm>
            <a:off x="3282696" y="2057400"/>
            <a:ext cx="2523744" cy="25603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15,000 ICU patient records from Kaggle. Features include age, comorbidity scores, vital signs, oxygenation, sepsis status, ventilation, and vasopressor use. Mortality rate: 22.8%.</a:t>
            </a:r>
            <a:endParaRPr lang="en-US" sz="1200" dirty="0"/>
          </a:p>
        </p:txBody>
      </p:sp>
      <p:sp>
        <p:nvSpPr>
          <p:cNvPr id="16" name="Shape 14"/>
          <p:cNvSpPr/>
          <p:nvPr/>
        </p:nvSpPr>
        <p:spPr>
          <a:xfrm>
            <a:off x="6071616" y="868680"/>
            <a:ext cx="2743200" cy="393192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6071616" y="868680"/>
            <a:ext cx="2743200" cy="73152"/>
          </a:xfrm>
          <a:prstGeom prst="rect">
            <a:avLst/>
          </a:prstGeom>
          <a:solidFill>
            <a:srgbClr val="0E7C7B"/>
          </a:solidFill>
          <a:ln w="12700">
            <a:solidFill>
              <a:srgbClr val="0E7C7B"/>
            </a:solidFill>
            <a:prstDash val="solid"/>
          </a:ln>
        </p:spPr>
      </p:sp>
      <p:sp>
        <p:nvSpPr>
          <p:cNvPr id="18" name="Shape 16"/>
          <p:cNvSpPr/>
          <p:nvPr/>
        </p:nvSpPr>
        <p:spPr>
          <a:xfrm>
            <a:off x="6163056" y="1005840"/>
            <a:ext cx="502920" cy="502920"/>
          </a:xfrm>
          <a:prstGeom prst="ellipse">
            <a:avLst/>
          </a:prstGeom>
          <a:solidFill>
            <a:srgbClr val="065A82"/>
          </a:solidFill>
          <a:ln w="12700">
            <a:solidFill>
              <a:srgbClr val="065A82"/>
            </a:solidFill>
            <a:prstDash val="solid"/>
          </a:ln>
        </p:spPr>
      </p:sp>
      <p:sp>
        <p:nvSpPr>
          <p:cNvPr id="19" name="Text 17"/>
          <p:cNvSpPr/>
          <p:nvPr/>
        </p:nvSpPr>
        <p:spPr>
          <a:xfrm>
            <a:off x="6163056" y="1005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0" name="Text 18"/>
          <p:cNvSpPr/>
          <p:nvPr/>
        </p:nvSpPr>
        <p:spPr>
          <a:xfrm>
            <a:off x="6181344" y="1600200"/>
            <a:ext cx="2523744" cy="365760"/>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Approach</a:t>
            </a:r>
            <a:endParaRPr lang="en-US" sz="1500" dirty="0"/>
          </a:p>
        </p:txBody>
      </p:sp>
      <p:sp>
        <p:nvSpPr>
          <p:cNvPr id="21" name="Text 19"/>
          <p:cNvSpPr/>
          <p:nvPr/>
        </p:nvSpPr>
        <p:spPr>
          <a:xfrm>
            <a:off x="6181344" y="2057400"/>
            <a:ext cx="2523744" cy="25603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Two models compared — Logistic Regression (interpretable) and XGBoost (flexible). Decision thresholds were optimised for clinical utility (F1-score). The tool is a clinical support aid, not a decision-maker.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Dataset &amp; Class Distribution</a:t>
            </a:r>
            <a:endParaRPr lang="en-US" sz="2400" dirty="0"/>
          </a:p>
        </p:txBody>
      </p:sp>
      <p:sp>
        <p:nvSpPr>
          <p:cNvPr id="4" name="Shape 2"/>
          <p:cNvSpPr/>
          <p:nvPr/>
        </p:nvSpPr>
        <p:spPr>
          <a:xfrm>
            <a:off x="274320" y="822960"/>
            <a:ext cx="2743200" cy="39776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822960"/>
            <a:ext cx="2743200" cy="73152"/>
          </a:xfrm>
          <a:prstGeom prst="rect">
            <a:avLst/>
          </a:prstGeom>
          <a:solidFill>
            <a:srgbClr val="0E7C7B"/>
          </a:solidFill>
          <a:ln w="12700">
            <a:solidFill>
              <a:srgbClr val="0E7C7B"/>
            </a:solidFill>
            <a:prstDash val="solid"/>
          </a:ln>
        </p:spPr>
      </p:sp>
      <p:sp>
        <p:nvSpPr>
          <p:cNvPr id="6" name="Text 4"/>
          <p:cNvSpPr/>
          <p:nvPr/>
        </p:nvSpPr>
        <p:spPr>
          <a:xfrm>
            <a:off x="384048" y="960120"/>
            <a:ext cx="2523744" cy="36576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Key Dataset Stats</a:t>
            </a:r>
            <a:endParaRPr lang="en-US" sz="1400" dirty="0"/>
          </a:p>
        </p:txBody>
      </p:sp>
      <p:sp>
        <p:nvSpPr>
          <p:cNvPr id="7" name="Text 5"/>
          <p:cNvSpPr/>
          <p:nvPr/>
        </p:nvSpPr>
        <p:spPr>
          <a:xfrm>
            <a:off x="384048" y="1463040"/>
            <a:ext cx="2523744" cy="32004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15,000</a:t>
            </a:r>
            <a:endParaRPr lang="en-US" sz="2000" dirty="0"/>
          </a:p>
        </p:txBody>
      </p:sp>
      <p:sp>
        <p:nvSpPr>
          <p:cNvPr id="8" name="Text 6"/>
          <p:cNvSpPr/>
          <p:nvPr/>
        </p:nvSpPr>
        <p:spPr>
          <a:xfrm>
            <a:off x="384048" y="1755648"/>
            <a:ext cx="2523744" cy="25603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Total Patients</a:t>
            </a:r>
            <a:endParaRPr lang="en-US" sz="1100" dirty="0"/>
          </a:p>
        </p:txBody>
      </p:sp>
      <p:sp>
        <p:nvSpPr>
          <p:cNvPr id="9" name="Text 7"/>
          <p:cNvSpPr/>
          <p:nvPr/>
        </p:nvSpPr>
        <p:spPr>
          <a:xfrm>
            <a:off x="384048" y="2057400"/>
            <a:ext cx="2523744" cy="32004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22.8%</a:t>
            </a:r>
            <a:endParaRPr lang="en-US" sz="2000" dirty="0"/>
          </a:p>
        </p:txBody>
      </p:sp>
      <p:sp>
        <p:nvSpPr>
          <p:cNvPr id="10" name="Text 8"/>
          <p:cNvSpPr/>
          <p:nvPr/>
        </p:nvSpPr>
        <p:spPr>
          <a:xfrm>
            <a:off x="384048" y="2350008"/>
            <a:ext cx="2523744" cy="25603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Hospital Mortality</a:t>
            </a:r>
            <a:endParaRPr lang="en-US" sz="1100" dirty="0"/>
          </a:p>
        </p:txBody>
      </p:sp>
      <p:sp>
        <p:nvSpPr>
          <p:cNvPr id="11" name="Text 9"/>
          <p:cNvSpPr/>
          <p:nvPr/>
        </p:nvSpPr>
        <p:spPr>
          <a:xfrm>
            <a:off x="384048" y="2651760"/>
            <a:ext cx="2523744" cy="32004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~11,600</a:t>
            </a:r>
            <a:endParaRPr lang="en-US" sz="2000" dirty="0"/>
          </a:p>
        </p:txBody>
      </p:sp>
      <p:sp>
        <p:nvSpPr>
          <p:cNvPr id="12" name="Text 10"/>
          <p:cNvSpPr/>
          <p:nvPr/>
        </p:nvSpPr>
        <p:spPr>
          <a:xfrm>
            <a:off x="384048" y="2944368"/>
            <a:ext cx="2523744" cy="25603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Survivors (Label 0)</a:t>
            </a:r>
            <a:endParaRPr lang="en-US" sz="1100" dirty="0"/>
          </a:p>
        </p:txBody>
      </p:sp>
      <p:sp>
        <p:nvSpPr>
          <p:cNvPr id="13" name="Text 11"/>
          <p:cNvSpPr/>
          <p:nvPr/>
        </p:nvSpPr>
        <p:spPr>
          <a:xfrm>
            <a:off x="384048" y="3246120"/>
            <a:ext cx="2523744" cy="32004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~3,400</a:t>
            </a:r>
            <a:endParaRPr lang="en-US" sz="2000" dirty="0"/>
          </a:p>
        </p:txBody>
      </p:sp>
      <p:sp>
        <p:nvSpPr>
          <p:cNvPr id="14" name="Text 12"/>
          <p:cNvSpPr/>
          <p:nvPr/>
        </p:nvSpPr>
        <p:spPr>
          <a:xfrm>
            <a:off x="384048" y="3538728"/>
            <a:ext cx="2523744" cy="25603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Non-survivors (Label 1)</a:t>
            </a:r>
            <a:endParaRPr lang="en-US" sz="1100" dirty="0"/>
          </a:p>
        </p:txBody>
      </p:sp>
      <p:sp>
        <p:nvSpPr>
          <p:cNvPr id="15" name="Text 13"/>
          <p:cNvSpPr/>
          <p:nvPr/>
        </p:nvSpPr>
        <p:spPr>
          <a:xfrm>
            <a:off x="384048" y="3840480"/>
            <a:ext cx="2523744" cy="32004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20+</a:t>
            </a:r>
            <a:endParaRPr lang="en-US" sz="2000" dirty="0"/>
          </a:p>
        </p:txBody>
      </p:sp>
      <p:sp>
        <p:nvSpPr>
          <p:cNvPr id="16" name="Text 14"/>
          <p:cNvSpPr/>
          <p:nvPr/>
        </p:nvSpPr>
        <p:spPr>
          <a:xfrm>
            <a:off x="384048" y="4133088"/>
            <a:ext cx="2523744" cy="25603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Features</a:t>
            </a:r>
            <a:endParaRPr lang="en-US" sz="1100" dirty="0"/>
          </a:p>
        </p:txBody>
      </p:sp>
      <p:pic>
        <p:nvPicPr>
          <p:cNvPr id="17" name="Image 0" descr="preencoded.png">    </p:cNvPr>
          <p:cNvPicPr>
            <a:picLocks noChangeAspect="1"/>
          </p:cNvPicPr>
          <p:nvPr/>
        </p:nvPicPr>
        <p:blipFill>
          <a:blip r:embed="rId1"/>
          <a:stretch>
            <a:fillRect/>
          </a:stretch>
        </p:blipFill>
        <p:spPr>
          <a:xfrm>
            <a:off x="3246120" y="822960"/>
            <a:ext cx="5577840" cy="3977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Exploratory Data Analysis: Clinical Risk Factors</a:t>
            </a:r>
            <a:endParaRPr lang="en-US" sz="2400" dirty="0"/>
          </a:p>
        </p:txBody>
      </p:sp>
      <p:pic>
        <p:nvPicPr>
          <p:cNvPr id="4" name="Image 0" descr="preencoded.png">    </p:cNvPr>
          <p:cNvPicPr>
            <a:picLocks noChangeAspect="1"/>
          </p:cNvPicPr>
          <p:nvPr/>
        </p:nvPicPr>
        <p:blipFill>
          <a:blip r:embed="rId1"/>
          <a:stretch>
            <a:fillRect/>
          </a:stretch>
        </p:blipFill>
        <p:spPr>
          <a:xfrm>
            <a:off x="228600" y="777240"/>
            <a:ext cx="4206240" cy="1920240"/>
          </a:xfrm>
          <a:prstGeom prst="rect">
            <a:avLst/>
          </a:prstGeom>
        </p:spPr>
      </p:pic>
      <p:pic>
        <p:nvPicPr>
          <p:cNvPr id="5" name="Image 1" descr="preencoded.png">    </p:cNvPr>
          <p:cNvPicPr>
            <a:picLocks noChangeAspect="1"/>
          </p:cNvPicPr>
          <p:nvPr/>
        </p:nvPicPr>
        <p:blipFill>
          <a:blip r:embed="rId2"/>
          <a:stretch>
            <a:fillRect/>
          </a:stretch>
        </p:blipFill>
        <p:spPr>
          <a:xfrm>
            <a:off x="4663440" y="777240"/>
            <a:ext cx="4206240" cy="1920240"/>
          </a:xfrm>
          <a:prstGeom prst="rect">
            <a:avLst/>
          </a:prstGeom>
        </p:spPr>
      </p:pic>
      <p:pic>
        <p:nvPicPr>
          <p:cNvPr id="6" name="Image 2" descr="preencoded.png">    </p:cNvPr>
          <p:cNvPicPr>
            <a:picLocks noChangeAspect="1"/>
          </p:cNvPicPr>
          <p:nvPr/>
        </p:nvPicPr>
        <p:blipFill>
          <a:blip r:embed="rId3"/>
          <a:stretch>
            <a:fillRect/>
          </a:stretch>
        </p:blipFill>
        <p:spPr>
          <a:xfrm>
            <a:off x="228600" y="2788920"/>
            <a:ext cx="4206240" cy="1920240"/>
          </a:xfrm>
          <a:prstGeom prst="rect">
            <a:avLst/>
          </a:prstGeom>
        </p:spPr>
      </p:pic>
      <p:pic>
        <p:nvPicPr>
          <p:cNvPr id="7" name="Image 3" descr="preencoded.png">    </p:cNvPr>
          <p:cNvPicPr>
            <a:picLocks noChangeAspect="1"/>
          </p:cNvPicPr>
          <p:nvPr/>
        </p:nvPicPr>
        <p:blipFill>
          <a:blip r:embed="rId4"/>
          <a:stretch>
            <a:fillRect/>
          </a:stretch>
        </p:blipFill>
        <p:spPr>
          <a:xfrm>
            <a:off x="4663440" y="2788920"/>
            <a:ext cx="4206240" cy="1920240"/>
          </a:xfrm>
          <a:prstGeom prst="rect">
            <a:avLst/>
          </a:prstGeom>
        </p:spPr>
      </p:pic>
      <p:sp>
        <p:nvSpPr>
          <p:cNvPr id="8" name="Text 2"/>
          <p:cNvSpPr/>
          <p:nvPr/>
        </p:nvSpPr>
        <p:spPr>
          <a:xfrm>
            <a:off x="365760" y="4846320"/>
            <a:ext cx="8412480" cy="274320"/>
          </a:xfrm>
          <a:prstGeom prst="rect">
            <a:avLst/>
          </a:prstGeom>
          <a:noFill/>
          <a:ln/>
        </p:spPr>
        <p:txBody>
          <a:bodyPr wrap="square" lIns="0" tIns="0" rIns="0" bIns="0" rtlCol="0" anchor="ctr"/>
          <a:lstStyle/>
          <a:p>
            <a:pPr algn="ctr" indent="0" marL="0">
              <a:buNone/>
            </a:pPr>
            <a:r>
              <a:rPr lang="en-US" sz="1100" i="1" dirty="0">
                <a:solidFill>
                  <a:srgbClr val="8896A8"/>
                </a:solidFill>
                <a:latin typeface="Calibri" pitchFamily="34" charset="0"/>
                <a:ea typeface="Calibri" pitchFamily="34" charset="-122"/>
                <a:cs typeface="Calibri" pitchFamily="34" charset="-120"/>
              </a:rPr>
              <a:t>Sepsis, ventilation, and vasopressor use show the strongest associations with ICU mortality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Feature Distributions by Outcome</a:t>
            </a:r>
            <a:endParaRPr lang="en-US" sz="2400" dirty="0"/>
          </a:p>
        </p:txBody>
      </p:sp>
      <p:pic>
        <p:nvPicPr>
          <p:cNvPr id="4" name="Image 0" descr="preencoded.png">    </p:cNvPr>
          <p:cNvPicPr>
            <a:picLocks noChangeAspect="1"/>
          </p:cNvPicPr>
          <p:nvPr/>
        </p:nvPicPr>
        <p:blipFill>
          <a:blip r:embed="rId1"/>
          <a:stretch>
            <a:fillRect/>
          </a:stretch>
        </p:blipFill>
        <p:spPr>
          <a:xfrm>
            <a:off x="182880" y="777240"/>
            <a:ext cx="8778240" cy="4160520"/>
          </a:xfrm>
          <a:prstGeom prst="rect">
            <a:avLst/>
          </a:prstGeom>
        </p:spPr>
      </p:pic>
      <p:sp>
        <p:nvSpPr>
          <p:cNvPr id="5" name="Text 2"/>
          <p:cNvSpPr/>
          <p:nvPr/>
        </p:nvSpPr>
        <p:spPr>
          <a:xfrm>
            <a:off x="365760" y="4846320"/>
            <a:ext cx="8412480" cy="274320"/>
          </a:xfrm>
          <a:prstGeom prst="rect">
            <a:avLst/>
          </a:prstGeom>
          <a:noFill/>
          <a:ln/>
        </p:spPr>
        <p:txBody>
          <a:bodyPr wrap="square" lIns="0" tIns="0" rIns="0" bIns="0" rtlCol="0" anchor="ctr"/>
          <a:lstStyle/>
          <a:p>
            <a:pPr algn="ctr" indent="0" marL="0">
              <a:buNone/>
            </a:pPr>
            <a:r>
              <a:rPr lang="en-US" sz="1100" i="1" dirty="0">
                <a:solidFill>
                  <a:srgbClr val="8896A8"/>
                </a:solidFill>
                <a:latin typeface="Calibri" pitchFamily="34" charset="0"/>
                <a:ea typeface="Calibri" pitchFamily="34" charset="-122"/>
                <a:cs typeface="Calibri" pitchFamily="34" charset="-120"/>
              </a:rPr>
              <a:t>Most continuous features show overlapping distributions between survivors and non-survivors — explaining the modest discriminative power of both models.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Feature Correlation Matrix</a:t>
            </a:r>
            <a:endParaRPr lang="en-US" sz="2400" dirty="0"/>
          </a:p>
        </p:txBody>
      </p:sp>
      <p:pic>
        <p:nvPicPr>
          <p:cNvPr id="4" name="Image 0" descr="preencoded.png">    </p:cNvPr>
          <p:cNvPicPr>
            <a:picLocks noChangeAspect="1"/>
          </p:cNvPicPr>
          <p:nvPr/>
        </p:nvPicPr>
        <p:blipFill>
          <a:blip r:embed="rId1"/>
          <a:stretch>
            <a:fillRect/>
          </a:stretch>
        </p:blipFill>
        <p:spPr>
          <a:xfrm>
            <a:off x="182880" y="777240"/>
            <a:ext cx="5303520" cy="4206240"/>
          </a:xfrm>
          <a:prstGeom prst="rect">
            <a:avLst/>
          </a:prstGeom>
        </p:spPr>
      </p:pic>
      <p:sp>
        <p:nvSpPr>
          <p:cNvPr id="5" name="Shape 2"/>
          <p:cNvSpPr/>
          <p:nvPr/>
        </p:nvSpPr>
        <p:spPr>
          <a:xfrm>
            <a:off x="5715000" y="868680"/>
            <a:ext cx="3200400" cy="91440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6" name="Shape 3"/>
          <p:cNvSpPr/>
          <p:nvPr/>
        </p:nvSpPr>
        <p:spPr>
          <a:xfrm>
            <a:off x="5715000" y="868680"/>
            <a:ext cx="64008" cy="914400"/>
          </a:xfrm>
          <a:prstGeom prst="rect">
            <a:avLst/>
          </a:prstGeom>
          <a:solidFill>
            <a:srgbClr val="0E7C7B"/>
          </a:solidFill>
          <a:ln w="12700">
            <a:solidFill>
              <a:srgbClr val="0E7C7B"/>
            </a:solidFill>
            <a:prstDash val="solid"/>
          </a:ln>
        </p:spPr>
      </p:sp>
      <p:sp>
        <p:nvSpPr>
          <p:cNvPr id="7" name="Text 4"/>
          <p:cNvSpPr/>
          <p:nvPr/>
        </p:nvSpPr>
        <p:spPr>
          <a:xfrm>
            <a:off x="5852160" y="923544"/>
            <a:ext cx="29718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Weak signal overall</a:t>
            </a:r>
            <a:endParaRPr lang="en-US" sz="1200" dirty="0"/>
          </a:p>
        </p:txBody>
      </p:sp>
      <p:sp>
        <p:nvSpPr>
          <p:cNvPr id="8" name="Text 5"/>
          <p:cNvSpPr/>
          <p:nvPr/>
        </p:nvSpPr>
        <p:spPr>
          <a:xfrm>
            <a:off x="5852160" y="1216152"/>
            <a:ext cx="2971800" cy="51206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Most features show near-zero correlation with mortality_label, confirming limited predictive power in the dataset.</a:t>
            </a:r>
            <a:endParaRPr lang="en-US" sz="1100" dirty="0"/>
          </a:p>
        </p:txBody>
      </p:sp>
      <p:sp>
        <p:nvSpPr>
          <p:cNvPr id="9" name="Shape 6"/>
          <p:cNvSpPr/>
          <p:nvPr/>
        </p:nvSpPr>
        <p:spPr>
          <a:xfrm>
            <a:off x="5715000" y="1892808"/>
            <a:ext cx="3200400" cy="91440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5715000" y="1892808"/>
            <a:ext cx="64008" cy="914400"/>
          </a:xfrm>
          <a:prstGeom prst="rect">
            <a:avLst/>
          </a:prstGeom>
          <a:solidFill>
            <a:srgbClr val="0E7C7B"/>
          </a:solidFill>
          <a:ln w="12700">
            <a:solidFill>
              <a:srgbClr val="0E7C7B"/>
            </a:solidFill>
            <a:prstDash val="solid"/>
          </a:ln>
        </p:spPr>
      </p:sp>
      <p:sp>
        <p:nvSpPr>
          <p:cNvPr id="11" name="Text 8"/>
          <p:cNvSpPr/>
          <p:nvPr/>
        </p:nvSpPr>
        <p:spPr>
          <a:xfrm>
            <a:off x="5852160" y="1947672"/>
            <a:ext cx="29718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Heart rate cluster</a:t>
            </a:r>
            <a:endParaRPr lang="en-US" sz="1200" dirty="0"/>
          </a:p>
        </p:txBody>
      </p:sp>
      <p:sp>
        <p:nvSpPr>
          <p:cNvPr id="12" name="Text 9"/>
          <p:cNvSpPr/>
          <p:nvPr/>
        </p:nvSpPr>
        <p:spPr>
          <a:xfrm>
            <a:off x="5852160" y="2240280"/>
            <a:ext cx="2971800" cy="51206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heart_rate_mean, max, and min are highly inter-correlated (r ≥ 0.87) — expected from the same vital sign.</a:t>
            </a:r>
            <a:endParaRPr lang="en-US" sz="1100" dirty="0"/>
          </a:p>
        </p:txBody>
      </p:sp>
      <p:sp>
        <p:nvSpPr>
          <p:cNvPr id="13" name="Shape 10"/>
          <p:cNvSpPr/>
          <p:nvPr/>
        </p:nvSpPr>
        <p:spPr>
          <a:xfrm>
            <a:off x="5715000" y="2916936"/>
            <a:ext cx="3200400" cy="91440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5715000" y="2916936"/>
            <a:ext cx="64008" cy="914400"/>
          </a:xfrm>
          <a:prstGeom prst="rect">
            <a:avLst/>
          </a:prstGeom>
          <a:solidFill>
            <a:srgbClr val="0E7C7B"/>
          </a:solidFill>
          <a:ln w="12700">
            <a:solidFill>
              <a:srgbClr val="0E7C7B"/>
            </a:solidFill>
            <a:prstDash val="solid"/>
          </a:ln>
        </p:spPr>
      </p:sp>
      <p:sp>
        <p:nvSpPr>
          <p:cNvPr id="15" name="Text 12"/>
          <p:cNvSpPr/>
          <p:nvPr/>
        </p:nvSpPr>
        <p:spPr>
          <a:xfrm>
            <a:off x="5852160" y="2971800"/>
            <a:ext cx="29718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Strongest predictors</a:t>
            </a:r>
            <a:endParaRPr lang="en-US" sz="1200" dirty="0"/>
          </a:p>
        </p:txBody>
      </p:sp>
      <p:sp>
        <p:nvSpPr>
          <p:cNvPr id="16" name="Text 13"/>
          <p:cNvSpPr/>
          <p:nvPr/>
        </p:nvSpPr>
        <p:spPr>
          <a:xfrm>
            <a:off x="5852160" y="3264408"/>
            <a:ext cx="2971800" cy="51206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ventilation_required (0.11) and vasopressor_used (0.10) have the highest correlation with mortality, consistent with EDA findings.</a:t>
            </a:r>
            <a:endParaRPr lang="en-US" sz="1100" dirty="0"/>
          </a:p>
        </p:txBody>
      </p:sp>
      <p:sp>
        <p:nvSpPr>
          <p:cNvPr id="17" name="Shape 14"/>
          <p:cNvSpPr/>
          <p:nvPr/>
        </p:nvSpPr>
        <p:spPr>
          <a:xfrm>
            <a:off x="5715000" y="3941064"/>
            <a:ext cx="3200400" cy="91440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5715000" y="3941064"/>
            <a:ext cx="64008" cy="914400"/>
          </a:xfrm>
          <a:prstGeom prst="rect">
            <a:avLst/>
          </a:prstGeom>
          <a:solidFill>
            <a:srgbClr val="0E7C7B"/>
          </a:solidFill>
          <a:ln w="12700">
            <a:solidFill>
              <a:srgbClr val="0E7C7B"/>
            </a:solidFill>
            <a:prstDash val="solid"/>
          </a:ln>
        </p:spPr>
      </p:sp>
      <p:sp>
        <p:nvSpPr>
          <p:cNvPr id="19" name="Text 16"/>
          <p:cNvSpPr/>
          <p:nvPr/>
        </p:nvSpPr>
        <p:spPr>
          <a:xfrm>
            <a:off x="5852160" y="3995928"/>
            <a:ext cx="2971800" cy="27432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Sepsis association</a:t>
            </a:r>
            <a:endParaRPr lang="en-US" sz="1200" dirty="0"/>
          </a:p>
        </p:txBody>
      </p:sp>
      <p:sp>
        <p:nvSpPr>
          <p:cNvPr id="20" name="Text 17"/>
          <p:cNvSpPr/>
          <p:nvPr/>
        </p:nvSpPr>
        <p:spPr>
          <a:xfrm>
            <a:off x="5852160" y="4288536"/>
            <a:ext cx="2971800" cy="51206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sepsis_flag correlates modestly with mortality (0.09) and with vasopressor use — as expected clinically.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Feature Importance: What Drives Risk?</a:t>
            </a:r>
            <a:endParaRPr lang="en-US" sz="2400" dirty="0"/>
          </a:p>
        </p:txBody>
      </p:sp>
      <p:sp>
        <p:nvSpPr>
          <p:cNvPr id="4" name="Text 2"/>
          <p:cNvSpPr/>
          <p:nvPr/>
        </p:nvSpPr>
        <p:spPr>
          <a:xfrm>
            <a:off x="274320" y="777240"/>
            <a:ext cx="4206240" cy="32004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Logistic Regression</a:t>
            </a:r>
            <a:endParaRPr lang="en-US" sz="1400" dirty="0"/>
          </a:p>
        </p:txBody>
      </p:sp>
      <p:pic>
        <p:nvPicPr>
          <p:cNvPr id="5" name="Image 0" descr="preencoded.png">    </p:cNvPr>
          <p:cNvPicPr>
            <a:picLocks noChangeAspect="1"/>
          </p:cNvPicPr>
          <p:nvPr/>
        </p:nvPicPr>
        <p:blipFill>
          <a:blip r:embed="rId1"/>
          <a:stretch>
            <a:fillRect/>
          </a:stretch>
        </p:blipFill>
        <p:spPr>
          <a:xfrm>
            <a:off x="182880" y="1097280"/>
            <a:ext cx="4297680" cy="3749040"/>
          </a:xfrm>
          <a:prstGeom prst="rect">
            <a:avLst/>
          </a:prstGeom>
        </p:spPr>
      </p:pic>
      <p:sp>
        <p:nvSpPr>
          <p:cNvPr id="6" name="Text 3"/>
          <p:cNvSpPr/>
          <p:nvPr/>
        </p:nvSpPr>
        <p:spPr>
          <a:xfrm>
            <a:off x="4572000" y="777240"/>
            <a:ext cx="4297680" cy="32004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XGBoost</a:t>
            </a:r>
            <a:endParaRPr lang="en-US" sz="1400" dirty="0"/>
          </a:p>
        </p:txBody>
      </p:sp>
      <p:pic>
        <p:nvPicPr>
          <p:cNvPr id="7" name="Image 1" descr="preencoded.png">    </p:cNvPr>
          <p:cNvPicPr>
            <a:picLocks noChangeAspect="1"/>
          </p:cNvPicPr>
          <p:nvPr/>
        </p:nvPicPr>
        <p:blipFill>
          <a:blip r:embed="rId2"/>
          <a:stretch>
            <a:fillRect/>
          </a:stretch>
        </p:blipFill>
        <p:spPr>
          <a:xfrm>
            <a:off x="4572000" y="1097280"/>
            <a:ext cx="4297680" cy="3749040"/>
          </a:xfrm>
          <a:prstGeom prst="rect">
            <a:avLst/>
          </a:prstGeom>
        </p:spPr>
      </p:pic>
      <p:sp>
        <p:nvSpPr>
          <p:cNvPr id="8" name="Shape 4"/>
          <p:cNvSpPr/>
          <p:nvPr/>
        </p:nvSpPr>
        <p:spPr>
          <a:xfrm>
            <a:off x="4526280" y="777240"/>
            <a:ext cx="36576" cy="4069080"/>
          </a:xfrm>
          <a:prstGeom prst="rect">
            <a:avLst/>
          </a:prstGeom>
          <a:solidFill>
            <a:srgbClr val="D9E2EC"/>
          </a:solidFill>
          <a:ln w="12700">
            <a:solidFill>
              <a:srgbClr val="D9E2EC"/>
            </a:solidFill>
            <a:prstDash val="solid"/>
          </a:ln>
        </p:spPr>
      </p:sp>
      <p:sp>
        <p:nvSpPr>
          <p:cNvPr id="9" name="Text 5"/>
          <p:cNvSpPr/>
          <p:nvPr/>
        </p:nvSpPr>
        <p:spPr>
          <a:xfrm>
            <a:off x="365760" y="4846320"/>
            <a:ext cx="8412480" cy="274320"/>
          </a:xfrm>
          <a:prstGeom prst="rect">
            <a:avLst/>
          </a:prstGeom>
          <a:noFill/>
          <a:ln/>
        </p:spPr>
        <p:txBody>
          <a:bodyPr wrap="square" lIns="0" tIns="0" rIns="0" bIns="0" rtlCol="0" anchor="ctr"/>
          <a:lstStyle/>
          <a:p>
            <a:pPr algn="ctr" indent="0" marL="0">
              <a:buNone/>
            </a:pPr>
            <a:r>
              <a:rPr lang="en-US" sz="1100" i="1" dirty="0">
                <a:solidFill>
                  <a:srgbClr val="8896A8"/>
                </a:solidFill>
                <a:latin typeface="Calibri" pitchFamily="34" charset="0"/>
                <a:ea typeface="Calibri" pitchFamily="34" charset="-122"/>
                <a:cs typeface="Calibri" pitchFamily="34" charset="-120"/>
              </a:rPr>
              <a:t>Both models agree: critical_support and sepsis_flag are the dominant predictors of ICU mortality.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 Performance Overview</a:t>
            </a:r>
            <a:endParaRPr lang="en-US" sz="2400" dirty="0"/>
          </a:p>
        </p:txBody>
      </p:sp>
      <p:pic>
        <p:nvPicPr>
          <p:cNvPr id="4" name="Image 0" descr="preencoded.png">    </p:cNvPr>
          <p:cNvPicPr>
            <a:picLocks noChangeAspect="1"/>
          </p:cNvPicPr>
          <p:nvPr/>
        </p:nvPicPr>
        <p:blipFill>
          <a:blip r:embed="rId1"/>
          <a:stretch>
            <a:fillRect/>
          </a:stretch>
        </p:blipFill>
        <p:spPr>
          <a:xfrm>
            <a:off x="137160" y="777240"/>
            <a:ext cx="8869680" cy="4206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Discriminative Performance: ROC &amp; Precision-Recall Curves</a:t>
            </a:r>
            <a:endParaRPr lang="en-US" sz="2400" dirty="0"/>
          </a:p>
        </p:txBody>
      </p:sp>
      <p:sp>
        <p:nvSpPr>
          <p:cNvPr id="4" name="Text 2"/>
          <p:cNvSpPr/>
          <p:nvPr/>
        </p:nvSpPr>
        <p:spPr>
          <a:xfrm>
            <a:off x="274320" y="777240"/>
            <a:ext cx="4206240" cy="32004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ROC Curve  (AUC ~0.61)</a:t>
            </a:r>
            <a:endParaRPr lang="en-US" sz="1400" dirty="0"/>
          </a:p>
        </p:txBody>
      </p:sp>
      <p:pic>
        <p:nvPicPr>
          <p:cNvPr id="5" name="Image 0" descr="preencoded.png">    </p:cNvPr>
          <p:cNvPicPr>
            <a:picLocks noChangeAspect="1"/>
          </p:cNvPicPr>
          <p:nvPr/>
        </p:nvPicPr>
        <p:blipFill>
          <a:blip r:embed="rId1"/>
          <a:stretch>
            <a:fillRect/>
          </a:stretch>
        </p:blipFill>
        <p:spPr>
          <a:xfrm>
            <a:off x="182880" y="1097280"/>
            <a:ext cx="4251960" cy="3749040"/>
          </a:xfrm>
          <a:prstGeom prst="rect">
            <a:avLst/>
          </a:prstGeom>
        </p:spPr>
      </p:pic>
      <p:sp>
        <p:nvSpPr>
          <p:cNvPr id="6" name="Text 3"/>
          <p:cNvSpPr/>
          <p:nvPr/>
        </p:nvSpPr>
        <p:spPr>
          <a:xfrm>
            <a:off x="4663440" y="777240"/>
            <a:ext cx="4206240" cy="32004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Precision-Recall Curve  (AP ~0.31)</a:t>
            </a:r>
            <a:endParaRPr lang="en-US" sz="1400" dirty="0"/>
          </a:p>
        </p:txBody>
      </p:sp>
      <p:pic>
        <p:nvPicPr>
          <p:cNvPr id="7" name="Image 1" descr="preencoded.png">    </p:cNvPr>
          <p:cNvPicPr>
            <a:picLocks noChangeAspect="1"/>
          </p:cNvPicPr>
          <p:nvPr/>
        </p:nvPicPr>
        <p:blipFill>
          <a:blip r:embed="rId2"/>
          <a:stretch>
            <a:fillRect/>
          </a:stretch>
        </p:blipFill>
        <p:spPr>
          <a:xfrm>
            <a:off x="4617720" y="1097280"/>
            <a:ext cx="4251960" cy="3749040"/>
          </a:xfrm>
          <a:prstGeom prst="rect">
            <a:avLst/>
          </a:prstGeom>
        </p:spPr>
      </p:pic>
      <p:sp>
        <p:nvSpPr>
          <p:cNvPr id="8" name="Shape 4"/>
          <p:cNvSpPr/>
          <p:nvPr/>
        </p:nvSpPr>
        <p:spPr>
          <a:xfrm>
            <a:off x="4544568" y="777240"/>
            <a:ext cx="36576" cy="4069080"/>
          </a:xfrm>
          <a:prstGeom prst="rect">
            <a:avLst/>
          </a:prstGeom>
          <a:solidFill>
            <a:srgbClr val="D9E2EC"/>
          </a:solidFill>
          <a:ln w="12700">
            <a:solidFill>
              <a:srgbClr val="D9E2EC"/>
            </a:solidFill>
            <a:prstDash val="solid"/>
          </a:ln>
        </p:spPr>
      </p:sp>
      <p:sp>
        <p:nvSpPr>
          <p:cNvPr id="9" name="Text 5"/>
          <p:cNvSpPr/>
          <p:nvPr/>
        </p:nvSpPr>
        <p:spPr>
          <a:xfrm>
            <a:off x="365760" y="4846320"/>
            <a:ext cx="8412480" cy="274320"/>
          </a:xfrm>
          <a:prstGeom prst="rect">
            <a:avLst/>
          </a:prstGeom>
          <a:noFill/>
          <a:ln/>
        </p:spPr>
        <p:txBody>
          <a:bodyPr wrap="square" lIns="0" tIns="0" rIns="0" bIns="0" rtlCol="0" anchor="ctr"/>
          <a:lstStyle/>
          <a:p>
            <a:pPr algn="ctr" indent="0" marL="0">
              <a:buNone/>
            </a:pPr>
            <a:r>
              <a:rPr lang="en-US" sz="1100" i="1" dirty="0">
                <a:solidFill>
                  <a:srgbClr val="8896A8"/>
                </a:solidFill>
                <a:latin typeface="Calibri" pitchFamily="34" charset="0"/>
                <a:ea typeface="Calibri" pitchFamily="34" charset="-122"/>
                <a:cs typeface="Calibri" pitchFamily="34" charset="-120"/>
              </a:rPr>
              <a:t>Both models perform modestly above chance. The low PR-AUC reflects the challenge of the 22.8% minority class.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Probability Calibration</a:t>
            </a:r>
            <a:endParaRPr lang="en-US" sz="2400" dirty="0"/>
          </a:p>
        </p:txBody>
      </p:sp>
      <p:pic>
        <p:nvPicPr>
          <p:cNvPr id="4" name="Image 0" descr="preencoded.png">    </p:cNvPr>
          <p:cNvPicPr>
            <a:picLocks noChangeAspect="1"/>
          </p:cNvPicPr>
          <p:nvPr/>
        </p:nvPicPr>
        <p:blipFill>
          <a:blip r:embed="rId1"/>
          <a:stretch>
            <a:fillRect/>
          </a:stretch>
        </p:blipFill>
        <p:spPr>
          <a:xfrm>
            <a:off x="182880" y="822960"/>
            <a:ext cx="5029200" cy="4023360"/>
          </a:xfrm>
          <a:prstGeom prst="rect">
            <a:avLst/>
          </a:prstGeom>
        </p:spPr>
      </p:pic>
      <p:sp>
        <p:nvSpPr>
          <p:cNvPr id="5" name="Shape 2"/>
          <p:cNvSpPr/>
          <p:nvPr/>
        </p:nvSpPr>
        <p:spPr>
          <a:xfrm>
            <a:off x="5440680" y="822960"/>
            <a:ext cx="3474720" cy="1234440"/>
          </a:xfrm>
          <a:prstGeom prst="rect">
            <a:avLst/>
          </a:prstGeom>
          <a:solidFill>
            <a:srgbClr val="0E7C7B"/>
          </a:solidFill>
          <a:ln w="12700">
            <a:solidFill>
              <a:srgbClr val="0E7C7B"/>
            </a:solidFill>
            <a:prstDash val="solid"/>
          </a:ln>
          <a:effectLst>
            <a:outerShdw sx="100000" sy="100000" kx="0" ky="0" algn="bl" rotWithShape="0" blurRad="101600" dist="38100" dir="8100000">
              <a:srgbClr val="000000">
                <a:alpha val="12000"/>
              </a:srgbClr>
            </a:outerShdw>
          </a:effectLst>
        </p:spPr>
      </p:sp>
      <p:sp>
        <p:nvSpPr>
          <p:cNvPr id="6" name="Text 3"/>
          <p:cNvSpPr/>
          <p:nvPr/>
        </p:nvSpPr>
        <p:spPr>
          <a:xfrm>
            <a:off x="5532120" y="914400"/>
            <a:ext cx="32918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Brier Score</a:t>
            </a:r>
            <a:endParaRPr lang="en-US" sz="1300" dirty="0"/>
          </a:p>
        </p:txBody>
      </p:sp>
      <p:sp>
        <p:nvSpPr>
          <p:cNvPr id="7" name="Text 4"/>
          <p:cNvSpPr/>
          <p:nvPr/>
        </p:nvSpPr>
        <p:spPr>
          <a:xfrm>
            <a:off x="5532120" y="1234440"/>
            <a:ext cx="3291840" cy="6400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0.171</a:t>
            </a:r>
            <a:endParaRPr lang="en-US" sz="3800" dirty="0"/>
          </a:p>
        </p:txBody>
      </p:sp>
      <p:sp>
        <p:nvSpPr>
          <p:cNvPr id="8" name="Text 5"/>
          <p:cNvSpPr/>
          <p:nvPr/>
        </p:nvSpPr>
        <p:spPr>
          <a:xfrm>
            <a:off x="5532120" y="1828800"/>
            <a:ext cx="3291840" cy="2286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(Both models — lower is better)</a:t>
            </a:r>
            <a:endParaRPr lang="en-US" sz="1100" dirty="0"/>
          </a:p>
        </p:txBody>
      </p:sp>
      <p:sp>
        <p:nvSpPr>
          <p:cNvPr id="9" name="Shape 6"/>
          <p:cNvSpPr/>
          <p:nvPr/>
        </p:nvSpPr>
        <p:spPr>
          <a:xfrm>
            <a:off x="5440680" y="2240280"/>
            <a:ext cx="3474720" cy="804672"/>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5440680" y="2240280"/>
            <a:ext cx="64008" cy="804672"/>
          </a:xfrm>
          <a:prstGeom prst="rect">
            <a:avLst/>
          </a:prstGeom>
          <a:solidFill>
            <a:srgbClr val="52B2CF"/>
          </a:solidFill>
          <a:ln w="12700">
            <a:solidFill>
              <a:srgbClr val="52B2CF"/>
            </a:solidFill>
            <a:prstDash val="solid"/>
          </a:ln>
        </p:spPr>
      </p:sp>
      <p:sp>
        <p:nvSpPr>
          <p:cNvPr id="11" name="Text 8"/>
          <p:cNvSpPr/>
          <p:nvPr/>
        </p:nvSpPr>
        <p:spPr>
          <a:xfrm>
            <a:off x="5577840" y="2276856"/>
            <a:ext cx="3291840"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What this means</a:t>
            </a:r>
            <a:endParaRPr lang="en-US" sz="1100" dirty="0"/>
          </a:p>
        </p:txBody>
      </p:sp>
      <p:sp>
        <p:nvSpPr>
          <p:cNvPr id="12" name="Text 9"/>
          <p:cNvSpPr/>
          <p:nvPr/>
        </p:nvSpPr>
        <p:spPr>
          <a:xfrm>
            <a:off x="5577840" y="2532888"/>
            <a:ext cx="3291840" cy="47548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 Brier score of 0.171 indicates excellent probability calibration. When the model predicts 35% mortality risk, approximately 35% of those patients truly die.</a:t>
            </a:r>
            <a:endParaRPr lang="en-US" sz="1000" dirty="0"/>
          </a:p>
        </p:txBody>
      </p:sp>
      <p:sp>
        <p:nvSpPr>
          <p:cNvPr id="13" name="Shape 10"/>
          <p:cNvSpPr/>
          <p:nvPr/>
        </p:nvSpPr>
        <p:spPr>
          <a:xfrm>
            <a:off x="5440680" y="3108960"/>
            <a:ext cx="3474720" cy="804672"/>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5440680" y="3108960"/>
            <a:ext cx="64008" cy="804672"/>
          </a:xfrm>
          <a:prstGeom prst="rect">
            <a:avLst/>
          </a:prstGeom>
          <a:solidFill>
            <a:srgbClr val="52B2CF"/>
          </a:solidFill>
          <a:ln w="12700">
            <a:solidFill>
              <a:srgbClr val="52B2CF"/>
            </a:solidFill>
            <a:prstDash val="solid"/>
          </a:ln>
        </p:spPr>
      </p:sp>
      <p:sp>
        <p:nvSpPr>
          <p:cNvPr id="15" name="Text 12"/>
          <p:cNvSpPr/>
          <p:nvPr/>
        </p:nvSpPr>
        <p:spPr>
          <a:xfrm>
            <a:off x="5577840" y="3145536"/>
            <a:ext cx="3291840"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Why this matters clinically</a:t>
            </a:r>
            <a:endParaRPr lang="en-US" sz="1100" dirty="0"/>
          </a:p>
        </p:txBody>
      </p:sp>
      <p:sp>
        <p:nvSpPr>
          <p:cNvPr id="16" name="Text 13"/>
          <p:cNvSpPr/>
          <p:nvPr/>
        </p:nvSpPr>
        <p:spPr>
          <a:xfrm>
            <a:off x="5577840" y="3401568"/>
            <a:ext cx="3291840" cy="47548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Even if a model cannot perfectly rank patients, well-calibrated probabilities are directly usable — clinicians can trust the raw numbers as genuine risk estimates, not just relative rankings.</a:t>
            </a:r>
            <a:endParaRPr lang="en-US" sz="1000" dirty="0"/>
          </a:p>
        </p:txBody>
      </p:sp>
      <p:sp>
        <p:nvSpPr>
          <p:cNvPr id="17" name="Shape 14"/>
          <p:cNvSpPr/>
          <p:nvPr/>
        </p:nvSpPr>
        <p:spPr>
          <a:xfrm>
            <a:off x="5440680" y="3977640"/>
            <a:ext cx="3474720" cy="804672"/>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5440680" y="3977640"/>
            <a:ext cx="64008" cy="804672"/>
          </a:xfrm>
          <a:prstGeom prst="rect">
            <a:avLst/>
          </a:prstGeom>
          <a:solidFill>
            <a:srgbClr val="52B2CF"/>
          </a:solidFill>
          <a:ln w="12700">
            <a:solidFill>
              <a:srgbClr val="52B2CF"/>
            </a:solidFill>
            <a:prstDash val="solid"/>
          </a:ln>
        </p:spPr>
      </p:sp>
      <p:sp>
        <p:nvSpPr>
          <p:cNvPr id="19" name="Text 16"/>
          <p:cNvSpPr/>
          <p:nvPr/>
        </p:nvSpPr>
        <p:spPr>
          <a:xfrm>
            <a:off x="5577840" y="4014216"/>
            <a:ext cx="3291840"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The key insight</a:t>
            </a:r>
            <a:endParaRPr lang="en-US" sz="1100" dirty="0"/>
          </a:p>
        </p:txBody>
      </p:sp>
      <p:sp>
        <p:nvSpPr>
          <p:cNvPr id="20" name="Text 17"/>
          <p:cNvSpPr/>
          <p:nvPr/>
        </p:nvSpPr>
        <p:spPr>
          <a:xfrm>
            <a:off x="5577840" y="4270248"/>
            <a:ext cx="3291840" cy="47548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Both models are mathematically trustworthy in their predicted probabilities, even when discriminative power is modest.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Clinical Trade-Off: Sensitivity vs. Alarm Fatigue</a:t>
            </a:r>
            <a:endParaRPr lang="en-US" sz="2400" dirty="0"/>
          </a:p>
        </p:txBody>
      </p:sp>
      <p:sp>
        <p:nvSpPr>
          <p:cNvPr id="4" name="Shape 2"/>
          <p:cNvSpPr/>
          <p:nvPr/>
        </p:nvSpPr>
        <p:spPr>
          <a:xfrm>
            <a:off x="274320" y="822960"/>
            <a:ext cx="6858000" cy="384048"/>
          </a:xfrm>
          <a:prstGeom prst="rect">
            <a:avLst/>
          </a:prstGeom>
          <a:solidFill>
            <a:srgbClr val="0D1B2A"/>
          </a:solidFill>
          <a:ln w="12700">
            <a:solidFill>
              <a:srgbClr val="0D1B2A"/>
            </a:solidFill>
            <a:prstDash val="solid"/>
          </a:ln>
        </p:spPr>
      </p:sp>
      <p:sp>
        <p:nvSpPr>
          <p:cNvPr id="5" name="Text 3"/>
          <p:cNvSpPr/>
          <p:nvPr/>
        </p:nvSpPr>
        <p:spPr>
          <a:xfrm>
            <a:off x="274320" y="822960"/>
            <a:ext cx="2286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p>
        </p:txBody>
      </p:sp>
      <p:sp>
        <p:nvSpPr>
          <p:cNvPr id="6" name="Text 4"/>
          <p:cNvSpPr/>
          <p:nvPr/>
        </p:nvSpPr>
        <p:spPr>
          <a:xfrm>
            <a:off x="2560320" y="822960"/>
            <a:ext cx="2286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7" name="Text 5"/>
          <p:cNvSpPr/>
          <p:nvPr/>
        </p:nvSpPr>
        <p:spPr>
          <a:xfrm>
            <a:off x="4846320" y="822960"/>
            <a:ext cx="2286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XGBoost</a:t>
            </a:r>
            <a:endParaRPr lang="en-US" sz="1300" dirty="0"/>
          </a:p>
        </p:txBody>
      </p:sp>
      <p:sp>
        <p:nvSpPr>
          <p:cNvPr id="8" name="Shape 6"/>
          <p:cNvSpPr/>
          <p:nvPr/>
        </p:nvSpPr>
        <p:spPr>
          <a:xfrm>
            <a:off x="274320" y="1207008"/>
            <a:ext cx="6858000" cy="384048"/>
          </a:xfrm>
          <a:prstGeom prst="rect">
            <a:avLst/>
          </a:prstGeom>
          <a:solidFill>
            <a:srgbClr val="EBF4F8"/>
          </a:solidFill>
          <a:ln w="12700">
            <a:solidFill>
              <a:srgbClr val="D9E2EC"/>
            </a:solidFill>
            <a:prstDash val="solid"/>
          </a:ln>
        </p:spPr>
      </p:sp>
      <p:sp>
        <p:nvSpPr>
          <p:cNvPr id="9" name="Text 7"/>
          <p:cNvSpPr/>
          <p:nvPr/>
        </p:nvSpPr>
        <p:spPr>
          <a:xfrm>
            <a:off x="274320" y="1207008"/>
            <a:ext cx="2286000" cy="384048"/>
          </a:xfrm>
          <a:prstGeom prst="rect">
            <a:avLst/>
          </a:prstGeom>
          <a:noFill/>
          <a:ln/>
        </p:spPr>
        <p:txBody>
          <a:bodyPr wrap="square" lIns="0" tIns="0" rIns="0" bIns="0" rtlCol="0" anchor="ctr"/>
          <a:lstStyle/>
          <a:p>
            <a:pPr algn="ctr" indent="0" marL="0">
              <a:buNone/>
            </a:pPr>
            <a:r>
              <a:rPr lang="en-US" sz="1300" b="1" dirty="0">
                <a:solidFill>
                  <a:srgbClr val="4A5568"/>
                </a:solidFill>
                <a:latin typeface="Calibri" pitchFamily="34" charset="0"/>
                <a:ea typeface="Calibri" pitchFamily="34" charset="-122"/>
                <a:cs typeface="Calibri" pitchFamily="34" charset="-120"/>
              </a:rPr>
              <a:t>AUROC</a:t>
            </a:r>
            <a:endParaRPr lang="en-US" sz="1300" dirty="0"/>
          </a:p>
        </p:txBody>
      </p:sp>
      <p:sp>
        <p:nvSpPr>
          <p:cNvPr id="10" name="Text 8"/>
          <p:cNvSpPr/>
          <p:nvPr/>
        </p:nvSpPr>
        <p:spPr>
          <a:xfrm>
            <a:off x="2560320" y="1207008"/>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0.614</a:t>
            </a:r>
            <a:endParaRPr lang="en-US" sz="1300" dirty="0"/>
          </a:p>
        </p:txBody>
      </p:sp>
      <p:sp>
        <p:nvSpPr>
          <p:cNvPr id="11" name="Text 9"/>
          <p:cNvSpPr/>
          <p:nvPr/>
        </p:nvSpPr>
        <p:spPr>
          <a:xfrm>
            <a:off x="4846320" y="1207008"/>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0.616</a:t>
            </a:r>
            <a:endParaRPr lang="en-US" sz="1300" dirty="0"/>
          </a:p>
        </p:txBody>
      </p:sp>
      <p:sp>
        <p:nvSpPr>
          <p:cNvPr id="12" name="Shape 10"/>
          <p:cNvSpPr/>
          <p:nvPr/>
        </p:nvSpPr>
        <p:spPr>
          <a:xfrm>
            <a:off x="274320" y="1591056"/>
            <a:ext cx="6858000" cy="384048"/>
          </a:xfrm>
          <a:prstGeom prst="rect">
            <a:avLst/>
          </a:prstGeom>
          <a:solidFill>
            <a:srgbClr val="FFFFFF"/>
          </a:solidFill>
          <a:ln w="12700">
            <a:solidFill>
              <a:srgbClr val="D9E2EC"/>
            </a:solidFill>
            <a:prstDash val="solid"/>
          </a:ln>
        </p:spPr>
      </p:sp>
      <p:sp>
        <p:nvSpPr>
          <p:cNvPr id="13" name="Text 11"/>
          <p:cNvSpPr/>
          <p:nvPr/>
        </p:nvSpPr>
        <p:spPr>
          <a:xfrm>
            <a:off x="274320" y="1591056"/>
            <a:ext cx="2286000" cy="384048"/>
          </a:xfrm>
          <a:prstGeom prst="rect">
            <a:avLst/>
          </a:prstGeom>
          <a:noFill/>
          <a:ln/>
        </p:spPr>
        <p:txBody>
          <a:bodyPr wrap="square" lIns="0" tIns="0" rIns="0" bIns="0" rtlCol="0" anchor="ctr"/>
          <a:lstStyle/>
          <a:p>
            <a:pPr algn="ctr" indent="0" marL="0">
              <a:buNone/>
            </a:pPr>
            <a:r>
              <a:rPr lang="en-US" sz="1300" b="1" dirty="0">
                <a:solidFill>
                  <a:srgbClr val="4A5568"/>
                </a:solidFill>
                <a:latin typeface="Calibri" pitchFamily="34" charset="0"/>
                <a:ea typeface="Calibri" pitchFamily="34" charset="-122"/>
                <a:cs typeface="Calibri" pitchFamily="34" charset="-120"/>
              </a:rPr>
              <a:t>PR-AUC</a:t>
            </a:r>
            <a:endParaRPr lang="en-US" sz="1300" dirty="0"/>
          </a:p>
        </p:txBody>
      </p:sp>
      <p:sp>
        <p:nvSpPr>
          <p:cNvPr id="14" name="Text 12"/>
          <p:cNvSpPr/>
          <p:nvPr/>
        </p:nvSpPr>
        <p:spPr>
          <a:xfrm>
            <a:off x="2560320" y="1591056"/>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0.318</a:t>
            </a:r>
            <a:endParaRPr lang="en-US" sz="1300" dirty="0"/>
          </a:p>
        </p:txBody>
      </p:sp>
      <p:sp>
        <p:nvSpPr>
          <p:cNvPr id="15" name="Text 13"/>
          <p:cNvSpPr/>
          <p:nvPr/>
        </p:nvSpPr>
        <p:spPr>
          <a:xfrm>
            <a:off x="4846320" y="1591056"/>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0.304</a:t>
            </a:r>
            <a:endParaRPr lang="en-US" sz="1300" dirty="0"/>
          </a:p>
        </p:txBody>
      </p:sp>
      <p:sp>
        <p:nvSpPr>
          <p:cNvPr id="16" name="Shape 14"/>
          <p:cNvSpPr/>
          <p:nvPr/>
        </p:nvSpPr>
        <p:spPr>
          <a:xfrm>
            <a:off x="274320" y="1975104"/>
            <a:ext cx="6858000" cy="384048"/>
          </a:xfrm>
          <a:prstGeom prst="rect">
            <a:avLst/>
          </a:prstGeom>
          <a:solidFill>
            <a:srgbClr val="EBF4F8"/>
          </a:solidFill>
          <a:ln w="12700">
            <a:solidFill>
              <a:srgbClr val="D9E2EC"/>
            </a:solidFill>
            <a:prstDash val="solid"/>
          </a:ln>
        </p:spPr>
      </p:sp>
      <p:sp>
        <p:nvSpPr>
          <p:cNvPr id="17" name="Text 15"/>
          <p:cNvSpPr/>
          <p:nvPr/>
        </p:nvSpPr>
        <p:spPr>
          <a:xfrm>
            <a:off x="274320" y="1975104"/>
            <a:ext cx="2286000" cy="384048"/>
          </a:xfrm>
          <a:prstGeom prst="rect">
            <a:avLst/>
          </a:prstGeom>
          <a:noFill/>
          <a:ln/>
        </p:spPr>
        <p:txBody>
          <a:bodyPr wrap="square" lIns="0" tIns="0" rIns="0" bIns="0" rtlCol="0" anchor="ctr"/>
          <a:lstStyle/>
          <a:p>
            <a:pPr algn="ctr" indent="0" marL="0">
              <a:buNone/>
            </a:pPr>
            <a:r>
              <a:rPr lang="en-US" sz="1300" b="1" dirty="0">
                <a:solidFill>
                  <a:srgbClr val="4A5568"/>
                </a:solidFill>
                <a:latin typeface="Calibri" pitchFamily="34" charset="0"/>
                <a:ea typeface="Calibri" pitchFamily="34" charset="-122"/>
                <a:cs typeface="Calibri" pitchFamily="34" charset="-120"/>
              </a:rPr>
              <a:t>Precision</a:t>
            </a:r>
            <a:endParaRPr lang="en-US" sz="1300" dirty="0"/>
          </a:p>
        </p:txBody>
      </p:sp>
      <p:sp>
        <p:nvSpPr>
          <p:cNvPr id="18" name="Text 16"/>
          <p:cNvSpPr/>
          <p:nvPr/>
        </p:nvSpPr>
        <p:spPr>
          <a:xfrm>
            <a:off x="2560320" y="1975104"/>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0.280</a:t>
            </a:r>
            <a:endParaRPr lang="en-US" sz="1300" dirty="0"/>
          </a:p>
        </p:txBody>
      </p:sp>
      <p:sp>
        <p:nvSpPr>
          <p:cNvPr id="19" name="Text 17"/>
          <p:cNvSpPr/>
          <p:nvPr/>
        </p:nvSpPr>
        <p:spPr>
          <a:xfrm>
            <a:off x="4846320" y="1975104"/>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0.270</a:t>
            </a:r>
            <a:endParaRPr lang="en-US" sz="1300" dirty="0"/>
          </a:p>
        </p:txBody>
      </p:sp>
      <p:sp>
        <p:nvSpPr>
          <p:cNvPr id="20" name="Shape 18"/>
          <p:cNvSpPr/>
          <p:nvPr/>
        </p:nvSpPr>
        <p:spPr>
          <a:xfrm>
            <a:off x="274320" y="2359152"/>
            <a:ext cx="6858000" cy="384048"/>
          </a:xfrm>
          <a:prstGeom prst="rect">
            <a:avLst/>
          </a:prstGeom>
          <a:solidFill>
            <a:srgbClr val="FFFFFF"/>
          </a:solidFill>
          <a:ln w="12700">
            <a:solidFill>
              <a:srgbClr val="D9E2EC"/>
            </a:solidFill>
            <a:prstDash val="solid"/>
          </a:ln>
        </p:spPr>
      </p:sp>
      <p:sp>
        <p:nvSpPr>
          <p:cNvPr id="21" name="Text 19"/>
          <p:cNvSpPr/>
          <p:nvPr/>
        </p:nvSpPr>
        <p:spPr>
          <a:xfrm>
            <a:off x="274320" y="2359152"/>
            <a:ext cx="2286000" cy="384048"/>
          </a:xfrm>
          <a:prstGeom prst="rect">
            <a:avLst/>
          </a:prstGeom>
          <a:noFill/>
          <a:ln/>
        </p:spPr>
        <p:txBody>
          <a:bodyPr wrap="square" lIns="0" tIns="0" rIns="0" bIns="0" rtlCol="0" anchor="ctr"/>
          <a:lstStyle/>
          <a:p>
            <a:pPr algn="ctr" indent="0" marL="0">
              <a:buNone/>
            </a:pPr>
            <a:r>
              <a:rPr lang="en-US" sz="1300" b="1" dirty="0">
                <a:solidFill>
                  <a:srgbClr val="4A5568"/>
                </a:solidFill>
                <a:latin typeface="Calibri" pitchFamily="34" charset="0"/>
                <a:ea typeface="Calibri" pitchFamily="34" charset="-122"/>
                <a:cs typeface="Calibri" pitchFamily="34" charset="-120"/>
              </a:rPr>
              <a:t>Recall</a:t>
            </a:r>
            <a:endParaRPr lang="en-US" sz="1300" dirty="0"/>
          </a:p>
        </p:txBody>
      </p:sp>
      <p:sp>
        <p:nvSpPr>
          <p:cNvPr id="22" name="Text 20"/>
          <p:cNvSpPr/>
          <p:nvPr/>
        </p:nvSpPr>
        <p:spPr>
          <a:xfrm>
            <a:off x="2560320" y="2359152"/>
            <a:ext cx="2286000" cy="384048"/>
          </a:xfrm>
          <a:prstGeom prst="rect">
            <a:avLst/>
          </a:prstGeom>
          <a:noFill/>
          <a:ln/>
        </p:spPr>
        <p:txBody>
          <a:bodyPr wrap="square" lIns="0" tIns="0" rIns="0" bIns="0" rtlCol="0" anchor="ctr"/>
          <a:lstStyle/>
          <a:p>
            <a:pPr algn="ctr" indent="0" marL="0">
              <a:buNone/>
            </a:pPr>
            <a:r>
              <a:rPr lang="en-US" sz="1300" b="1" dirty="0">
                <a:solidFill>
                  <a:srgbClr val="0E7C7B"/>
                </a:solidFill>
                <a:latin typeface="Calibri" pitchFamily="34" charset="0"/>
                <a:ea typeface="Calibri" pitchFamily="34" charset="-122"/>
                <a:cs typeface="Calibri" pitchFamily="34" charset="-120"/>
              </a:rPr>
              <a:t>0.737</a:t>
            </a:r>
            <a:endParaRPr lang="en-US" sz="1300" dirty="0"/>
          </a:p>
        </p:txBody>
      </p:sp>
      <p:sp>
        <p:nvSpPr>
          <p:cNvPr id="23" name="Text 21"/>
          <p:cNvSpPr/>
          <p:nvPr/>
        </p:nvSpPr>
        <p:spPr>
          <a:xfrm>
            <a:off x="4846320" y="2359152"/>
            <a:ext cx="2286000" cy="384048"/>
          </a:xfrm>
          <a:prstGeom prst="rect">
            <a:avLst/>
          </a:prstGeom>
          <a:noFill/>
          <a:ln/>
        </p:spPr>
        <p:txBody>
          <a:bodyPr wrap="square" lIns="0" tIns="0" rIns="0" bIns="0" rtlCol="0" anchor="ctr"/>
          <a:lstStyle/>
          <a:p>
            <a:pPr algn="ctr" indent="0" marL="0">
              <a:buNone/>
            </a:pPr>
            <a:r>
              <a:rPr lang="en-US" sz="1300" b="1" dirty="0">
                <a:solidFill>
                  <a:srgbClr val="0E7C7B"/>
                </a:solidFill>
                <a:latin typeface="Calibri" pitchFamily="34" charset="0"/>
                <a:ea typeface="Calibri" pitchFamily="34" charset="-122"/>
                <a:cs typeface="Calibri" pitchFamily="34" charset="-120"/>
              </a:rPr>
              <a:t>0.773</a:t>
            </a:r>
            <a:endParaRPr lang="en-US" sz="1300" dirty="0"/>
          </a:p>
        </p:txBody>
      </p:sp>
      <p:sp>
        <p:nvSpPr>
          <p:cNvPr id="24" name="Shape 22"/>
          <p:cNvSpPr/>
          <p:nvPr/>
        </p:nvSpPr>
        <p:spPr>
          <a:xfrm>
            <a:off x="274320" y="2743200"/>
            <a:ext cx="6858000" cy="384048"/>
          </a:xfrm>
          <a:prstGeom prst="rect">
            <a:avLst/>
          </a:prstGeom>
          <a:solidFill>
            <a:srgbClr val="EBF4F8"/>
          </a:solidFill>
          <a:ln w="12700">
            <a:solidFill>
              <a:srgbClr val="D9E2EC"/>
            </a:solidFill>
            <a:prstDash val="solid"/>
          </a:ln>
        </p:spPr>
      </p:sp>
      <p:sp>
        <p:nvSpPr>
          <p:cNvPr id="25" name="Text 23"/>
          <p:cNvSpPr/>
          <p:nvPr/>
        </p:nvSpPr>
        <p:spPr>
          <a:xfrm>
            <a:off x="274320" y="2743200"/>
            <a:ext cx="2286000" cy="384048"/>
          </a:xfrm>
          <a:prstGeom prst="rect">
            <a:avLst/>
          </a:prstGeom>
          <a:noFill/>
          <a:ln/>
        </p:spPr>
        <p:txBody>
          <a:bodyPr wrap="square" lIns="0" tIns="0" rIns="0" bIns="0" rtlCol="0" anchor="ctr"/>
          <a:lstStyle/>
          <a:p>
            <a:pPr algn="ctr" indent="0" marL="0">
              <a:buNone/>
            </a:pPr>
            <a:r>
              <a:rPr lang="en-US" sz="1300" b="1" dirty="0">
                <a:solidFill>
                  <a:srgbClr val="4A5568"/>
                </a:solidFill>
                <a:latin typeface="Calibri" pitchFamily="34" charset="0"/>
                <a:ea typeface="Calibri" pitchFamily="34" charset="-122"/>
                <a:cs typeface="Calibri" pitchFamily="34" charset="-120"/>
              </a:rPr>
              <a:t>Brier Score</a:t>
            </a:r>
            <a:endParaRPr lang="en-US" sz="1300" dirty="0"/>
          </a:p>
        </p:txBody>
      </p:sp>
      <p:sp>
        <p:nvSpPr>
          <p:cNvPr id="26" name="Text 24"/>
          <p:cNvSpPr/>
          <p:nvPr/>
        </p:nvSpPr>
        <p:spPr>
          <a:xfrm>
            <a:off x="2560320" y="2743200"/>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0.171</a:t>
            </a:r>
            <a:endParaRPr lang="en-US" sz="1300" dirty="0"/>
          </a:p>
        </p:txBody>
      </p:sp>
      <p:sp>
        <p:nvSpPr>
          <p:cNvPr id="27" name="Text 25"/>
          <p:cNvSpPr/>
          <p:nvPr/>
        </p:nvSpPr>
        <p:spPr>
          <a:xfrm>
            <a:off x="4846320" y="2743200"/>
            <a:ext cx="2286000" cy="384048"/>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0.171</a:t>
            </a:r>
            <a:endParaRPr lang="en-US" sz="1300" dirty="0"/>
          </a:p>
        </p:txBody>
      </p:sp>
      <p:sp>
        <p:nvSpPr>
          <p:cNvPr id="28" name="Shape 26"/>
          <p:cNvSpPr/>
          <p:nvPr/>
        </p:nvSpPr>
        <p:spPr>
          <a:xfrm>
            <a:off x="7269480" y="822960"/>
            <a:ext cx="1645920" cy="1280160"/>
          </a:xfrm>
          <a:prstGeom prst="rect">
            <a:avLst/>
          </a:prstGeom>
          <a:solidFill>
            <a:srgbClr val="27AE60"/>
          </a:solidFill>
          <a:ln w="12700">
            <a:solidFill>
              <a:srgbClr val="27AE60"/>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7269480" y="868680"/>
            <a:ext cx="1645920" cy="5029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30" name="Shape 28"/>
          <p:cNvSpPr/>
          <p:nvPr/>
        </p:nvSpPr>
        <p:spPr>
          <a:xfrm>
            <a:off x="7269480" y="1389888"/>
            <a:ext cx="1645920" cy="713232"/>
          </a:xfrm>
          <a:prstGeom prst="rect">
            <a:avLst/>
          </a:prstGeom>
          <a:solidFill>
            <a:srgbClr val="FFFFFF"/>
          </a:solidFill>
          <a:ln w="12700">
            <a:solidFill>
              <a:srgbClr val="FFFFFF"/>
            </a:solidFill>
            <a:prstDash val="solid"/>
          </a:ln>
        </p:spPr>
      </p:sp>
      <p:sp>
        <p:nvSpPr>
          <p:cNvPr id="31" name="Text 29"/>
          <p:cNvSpPr/>
          <p:nvPr/>
        </p:nvSpPr>
        <p:spPr>
          <a:xfrm>
            <a:off x="7360920" y="1417320"/>
            <a:ext cx="1463040" cy="32004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Wide Safety Net (High Recall ~75%)</a:t>
            </a:r>
            <a:endParaRPr lang="en-US" sz="900" dirty="0"/>
          </a:p>
        </p:txBody>
      </p:sp>
      <p:sp>
        <p:nvSpPr>
          <p:cNvPr id="32" name="Text 30"/>
          <p:cNvSpPr/>
          <p:nvPr/>
        </p:nvSpPr>
        <p:spPr>
          <a:xfrm>
            <a:off x="7360920" y="1719072"/>
            <a:ext cx="146304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Models catch ~75% of patients who die. XGBoost is slightly more aggressive at 77%.</a:t>
            </a:r>
            <a:endParaRPr lang="en-US" sz="850" dirty="0"/>
          </a:p>
        </p:txBody>
      </p:sp>
      <p:sp>
        <p:nvSpPr>
          <p:cNvPr id="33" name="Shape 31"/>
          <p:cNvSpPr/>
          <p:nvPr/>
        </p:nvSpPr>
        <p:spPr>
          <a:xfrm>
            <a:off x="7269480" y="2240280"/>
            <a:ext cx="1645920" cy="1280160"/>
          </a:xfrm>
          <a:prstGeom prst="rect">
            <a:avLst/>
          </a:prstGeom>
          <a:solidFill>
            <a:srgbClr val="E67E22"/>
          </a:solidFill>
          <a:ln w="12700">
            <a:solidFill>
              <a:srgbClr val="E67E22"/>
            </a:solidFill>
            <a:prstDash val="solid"/>
          </a:ln>
          <a:effectLst>
            <a:outerShdw sx="100000" sy="100000" kx="0" ky="0" algn="bl" rotWithShape="0" blurRad="101600" dist="38100" dir="8100000">
              <a:srgbClr val="000000">
                <a:alpha val="12000"/>
              </a:srgbClr>
            </a:outerShdw>
          </a:effectLst>
        </p:spPr>
      </p:sp>
      <p:sp>
        <p:nvSpPr>
          <p:cNvPr id="34" name="Text 32"/>
          <p:cNvSpPr/>
          <p:nvPr/>
        </p:nvSpPr>
        <p:spPr>
          <a:xfrm>
            <a:off x="7269480" y="2286000"/>
            <a:ext cx="1645920" cy="5029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35" name="Shape 33"/>
          <p:cNvSpPr/>
          <p:nvPr/>
        </p:nvSpPr>
        <p:spPr>
          <a:xfrm>
            <a:off x="7269480" y="2807208"/>
            <a:ext cx="1645920" cy="713232"/>
          </a:xfrm>
          <a:prstGeom prst="rect">
            <a:avLst/>
          </a:prstGeom>
          <a:solidFill>
            <a:srgbClr val="FFFFFF"/>
          </a:solidFill>
          <a:ln w="12700">
            <a:solidFill>
              <a:srgbClr val="FFFFFF"/>
            </a:solidFill>
            <a:prstDash val="solid"/>
          </a:ln>
        </p:spPr>
      </p:sp>
      <p:sp>
        <p:nvSpPr>
          <p:cNvPr id="36" name="Text 34"/>
          <p:cNvSpPr/>
          <p:nvPr/>
        </p:nvSpPr>
        <p:spPr>
          <a:xfrm>
            <a:off x="7360920" y="2834640"/>
            <a:ext cx="1463040" cy="32004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False Alarm Cost (Low Precision ~27%)</a:t>
            </a:r>
            <a:endParaRPr lang="en-US" sz="900" dirty="0"/>
          </a:p>
        </p:txBody>
      </p:sp>
      <p:sp>
        <p:nvSpPr>
          <p:cNvPr id="37" name="Text 35"/>
          <p:cNvSpPr/>
          <p:nvPr/>
        </p:nvSpPr>
        <p:spPr>
          <a:xfrm>
            <a:off x="7360920" y="3136392"/>
            <a:ext cx="146304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Only ~27–28% of flagged patients actually die. In a busy ICU, this risks alarm fatigue.</a:t>
            </a:r>
            <a:endParaRPr lang="en-US" sz="850" dirty="0"/>
          </a:p>
        </p:txBody>
      </p:sp>
      <p:sp>
        <p:nvSpPr>
          <p:cNvPr id="38" name="Shape 36"/>
          <p:cNvSpPr/>
          <p:nvPr/>
        </p:nvSpPr>
        <p:spPr>
          <a:xfrm>
            <a:off x="7269480" y="3657600"/>
            <a:ext cx="1645920" cy="1280160"/>
          </a:xfrm>
          <a:prstGeom prst="rect">
            <a:avLst/>
          </a:prstGeom>
          <a:solidFill>
            <a:srgbClr val="0E7C7B"/>
          </a:solidFill>
          <a:ln w="12700">
            <a:solidFill>
              <a:srgbClr val="0E7C7B"/>
            </a:solidFill>
            <a:prstDash val="solid"/>
          </a:ln>
          <a:effectLst>
            <a:outerShdw sx="100000" sy="100000" kx="0" ky="0" algn="bl" rotWithShape="0" blurRad="101600" dist="38100" dir="8100000">
              <a:srgbClr val="000000">
                <a:alpha val="12000"/>
              </a:srgbClr>
            </a:outerShdw>
          </a:effectLst>
        </p:spPr>
      </p:sp>
      <p:sp>
        <p:nvSpPr>
          <p:cNvPr id="39" name="Text 37"/>
          <p:cNvSpPr/>
          <p:nvPr/>
        </p:nvSpPr>
        <p:spPr>
          <a:xfrm>
            <a:off x="7269480" y="3703320"/>
            <a:ext cx="1645920" cy="5029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40" name="Shape 38"/>
          <p:cNvSpPr/>
          <p:nvPr/>
        </p:nvSpPr>
        <p:spPr>
          <a:xfrm>
            <a:off x="7269480" y="4224528"/>
            <a:ext cx="1645920" cy="713232"/>
          </a:xfrm>
          <a:prstGeom prst="rect">
            <a:avLst/>
          </a:prstGeom>
          <a:solidFill>
            <a:srgbClr val="FFFFFF"/>
          </a:solidFill>
          <a:ln w="12700">
            <a:solidFill>
              <a:srgbClr val="FFFFFF"/>
            </a:solidFill>
            <a:prstDash val="solid"/>
          </a:ln>
        </p:spPr>
      </p:sp>
      <p:sp>
        <p:nvSpPr>
          <p:cNvPr id="41" name="Text 39"/>
          <p:cNvSpPr/>
          <p:nvPr/>
        </p:nvSpPr>
        <p:spPr>
          <a:xfrm>
            <a:off x="7360920" y="4251960"/>
            <a:ext cx="1463040" cy="32004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Logistic Regression Preferred</a:t>
            </a:r>
            <a:endParaRPr lang="en-US" sz="900" dirty="0"/>
          </a:p>
        </p:txBody>
      </p:sp>
      <p:sp>
        <p:nvSpPr>
          <p:cNvPr id="42" name="Text 40"/>
          <p:cNvSpPr/>
          <p:nvPr/>
        </p:nvSpPr>
        <p:spPr>
          <a:xfrm>
            <a:off x="7360920" y="4553712"/>
            <a:ext cx="146304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Equivalent performance — but far easier to interpret and explain at the bedside.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Interpreting the Risk Score</a:t>
            </a:r>
            <a:endParaRPr lang="en-US" sz="2400" dirty="0"/>
          </a:p>
        </p:txBody>
      </p:sp>
      <p:sp>
        <p:nvSpPr>
          <p:cNvPr id="4" name="Shape 2"/>
          <p:cNvSpPr/>
          <p:nvPr/>
        </p:nvSpPr>
        <p:spPr>
          <a:xfrm>
            <a:off x="274320" y="822960"/>
            <a:ext cx="1371600" cy="1005840"/>
          </a:xfrm>
          <a:prstGeom prst="rect">
            <a:avLst/>
          </a:prstGeom>
          <a:solidFill>
            <a:srgbClr val="27AE60"/>
          </a:solidFill>
          <a:ln w="12700">
            <a:solidFill>
              <a:srgbClr val="27AE60"/>
            </a:solidFill>
            <a:prstDash val="solid"/>
          </a:ln>
        </p:spPr>
      </p:sp>
      <p:sp>
        <p:nvSpPr>
          <p:cNvPr id="5" name="Text 3"/>
          <p:cNvSpPr/>
          <p:nvPr/>
        </p:nvSpPr>
        <p:spPr>
          <a:xfrm>
            <a:off x="274320" y="868680"/>
            <a:ext cx="137160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0–30%</a:t>
            </a:r>
            <a:endParaRPr lang="en-US" sz="2200" dirty="0"/>
          </a:p>
        </p:txBody>
      </p:sp>
      <p:sp>
        <p:nvSpPr>
          <p:cNvPr id="6" name="Text 4"/>
          <p:cNvSpPr/>
          <p:nvPr/>
        </p:nvSpPr>
        <p:spPr>
          <a:xfrm>
            <a:off x="274320" y="1325880"/>
            <a:ext cx="13716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Lower Risk</a:t>
            </a:r>
            <a:endParaRPr lang="en-US" sz="1100" dirty="0"/>
          </a:p>
        </p:txBody>
      </p:sp>
      <p:sp>
        <p:nvSpPr>
          <p:cNvPr id="7" name="Shape 5"/>
          <p:cNvSpPr/>
          <p:nvPr/>
        </p:nvSpPr>
        <p:spPr>
          <a:xfrm>
            <a:off x="1645920" y="822960"/>
            <a:ext cx="5120640" cy="10058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1783080" y="1005840"/>
            <a:ext cx="4846320" cy="64008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Do not assume the patient is safe. Compare with the bedside picture and recent trend.</a:t>
            </a:r>
            <a:endParaRPr lang="en-US" sz="1300" dirty="0"/>
          </a:p>
        </p:txBody>
      </p:sp>
      <p:sp>
        <p:nvSpPr>
          <p:cNvPr id="9" name="Shape 7"/>
          <p:cNvSpPr/>
          <p:nvPr/>
        </p:nvSpPr>
        <p:spPr>
          <a:xfrm>
            <a:off x="274320" y="2011680"/>
            <a:ext cx="1371600" cy="1005840"/>
          </a:xfrm>
          <a:prstGeom prst="rect">
            <a:avLst/>
          </a:prstGeom>
          <a:solidFill>
            <a:srgbClr val="E67E22"/>
          </a:solidFill>
          <a:ln w="12700">
            <a:solidFill>
              <a:srgbClr val="E67E22"/>
            </a:solidFill>
            <a:prstDash val="solid"/>
          </a:ln>
        </p:spPr>
      </p:sp>
      <p:sp>
        <p:nvSpPr>
          <p:cNvPr id="10" name="Text 8"/>
          <p:cNvSpPr/>
          <p:nvPr/>
        </p:nvSpPr>
        <p:spPr>
          <a:xfrm>
            <a:off x="274320" y="2057400"/>
            <a:ext cx="137160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30–70%</a:t>
            </a:r>
            <a:endParaRPr lang="en-US" sz="2200" dirty="0"/>
          </a:p>
        </p:txBody>
      </p:sp>
      <p:sp>
        <p:nvSpPr>
          <p:cNvPr id="11" name="Text 9"/>
          <p:cNvSpPr/>
          <p:nvPr/>
        </p:nvSpPr>
        <p:spPr>
          <a:xfrm>
            <a:off x="274320" y="2514600"/>
            <a:ext cx="13716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Intermediate Risk</a:t>
            </a:r>
            <a:endParaRPr lang="en-US" sz="1100" dirty="0"/>
          </a:p>
        </p:txBody>
      </p:sp>
      <p:sp>
        <p:nvSpPr>
          <p:cNvPr id="12" name="Shape 10"/>
          <p:cNvSpPr/>
          <p:nvPr/>
        </p:nvSpPr>
        <p:spPr>
          <a:xfrm>
            <a:off x="1645920" y="2011680"/>
            <a:ext cx="5120640" cy="10058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1783080" y="2194560"/>
            <a:ext cx="4846320" cy="64008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Use caution. Clinical judgment is especially important at this threshold.</a:t>
            </a:r>
            <a:endParaRPr lang="en-US" sz="1300" dirty="0"/>
          </a:p>
        </p:txBody>
      </p:sp>
      <p:sp>
        <p:nvSpPr>
          <p:cNvPr id="14" name="Shape 12"/>
          <p:cNvSpPr/>
          <p:nvPr/>
        </p:nvSpPr>
        <p:spPr>
          <a:xfrm>
            <a:off x="274320" y="3200400"/>
            <a:ext cx="1371600" cy="1005840"/>
          </a:xfrm>
          <a:prstGeom prst="rect">
            <a:avLst/>
          </a:prstGeom>
          <a:solidFill>
            <a:srgbClr val="C0392B"/>
          </a:solidFill>
          <a:ln w="12700">
            <a:solidFill>
              <a:srgbClr val="C0392B"/>
            </a:solidFill>
            <a:prstDash val="solid"/>
          </a:ln>
        </p:spPr>
      </p:sp>
      <p:sp>
        <p:nvSpPr>
          <p:cNvPr id="15" name="Text 13"/>
          <p:cNvSpPr/>
          <p:nvPr/>
        </p:nvSpPr>
        <p:spPr>
          <a:xfrm>
            <a:off x="274320" y="3246120"/>
            <a:ext cx="137160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70–100%</a:t>
            </a:r>
            <a:endParaRPr lang="en-US" sz="2200" dirty="0"/>
          </a:p>
        </p:txBody>
      </p:sp>
      <p:sp>
        <p:nvSpPr>
          <p:cNvPr id="16" name="Text 14"/>
          <p:cNvSpPr/>
          <p:nvPr/>
        </p:nvSpPr>
        <p:spPr>
          <a:xfrm>
            <a:off x="274320" y="3703320"/>
            <a:ext cx="13716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Higher Risk</a:t>
            </a:r>
            <a:endParaRPr lang="en-US" sz="1100" dirty="0"/>
          </a:p>
        </p:txBody>
      </p:sp>
      <p:sp>
        <p:nvSpPr>
          <p:cNvPr id="17" name="Shape 15"/>
          <p:cNvSpPr/>
          <p:nvPr/>
        </p:nvSpPr>
        <p:spPr>
          <a:xfrm>
            <a:off x="1645920" y="3200400"/>
            <a:ext cx="5120640" cy="10058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1783080" y="3383280"/>
            <a:ext cx="4846320" cy="64008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Correlate with the clinical picture. Consider closer review and possible escalation if supported clinically.</a:t>
            </a:r>
            <a:endParaRPr lang="en-US" sz="1300" dirty="0"/>
          </a:p>
        </p:txBody>
      </p:sp>
      <p:sp>
        <p:nvSpPr>
          <p:cNvPr id="19" name="Shape 17"/>
          <p:cNvSpPr/>
          <p:nvPr/>
        </p:nvSpPr>
        <p:spPr>
          <a:xfrm>
            <a:off x="6995160" y="822960"/>
            <a:ext cx="1920240" cy="356616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995160" y="822960"/>
            <a:ext cx="1920240" cy="73152"/>
          </a:xfrm>
          <a:prstGeom prst="rect">
            <a:avLst/>
          </a:prstGeom>
          <a:solidFill>
            <a:srgbClr val="0E7C7B"/>
          </a:solidFill>
          <a:ln w="12700">
            <a:solidFill>
              <a:srgbClr val="0E7C7B"/>
            </a:solidFill>
            <a:prstDash val="solid"/>
          </a:ln>
        </p:spPr>
      </p:sp>
      <p:sp>
        <p:nvSpPr>
          <p:cNvPr id="21" name="Text 19"/>
          <p:cNvSpPr/>
          <p:nvPr/>
        </p:nvSpPr>
        <p:spPr>
          <a:xfrm>
            <a:off x="7086600" y="914400"/>
            <a:ext cx="1737360" cy="365760"/>
          </a:xfrm>
          <a:prstGeom prst="rect">
            <a:avLst/>
          </a:prstGeom>
          <a:noFill/>
          <a:ln/>
        </p:spPr>
        <p:txBody>
          <a:bodyPr wrap="square" lIns="0" tIns="0" rIns="0" bIns="0" rtlCol="0" anchor="ctr"/>
          <a:lstStyle/>
          <a:p>
            <a:pPr indent="0" marL="0">
              <a:buNone/>
            </a:pPr>
            <a:r>
              <a:rPr lang="en-US" sz="1100" b="1" dirty="0">
                <a:solidFill>
                  <a:srgbClr val="52B2CF"/>
                </a:solidFill>
                <a:latin typeface="Calibri" pitchFamily="34" charset="0"/>
                <a:ea typeface="Calibri" pitchFamily="34" charset="-122"/>
                <a:cs typeface="Calibri" pitchFamily="34" charset="-120"/>
              </a:rPr>
              <a:t>Before Acting on Score</a:t>
            </a:r>
            <a:endParaRPr lang="en-US" sz="1100" dirty="0"/>
          </a:p>
        </p:txBody>
      </p:sp>
      <p:sp>
        <p:nvSpPr>
          <p:cNvPr id="22" name="Text 20"/>
          <p:cNvSpPr/>
          <p:nvPr/>
        </p:nvSpPr>
        <p:spPr>
          <a:xfrm>
            <a:off x="7059168" y="1371600"/>
            <a:ext cx="1783080" cy="640080"/>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  </a:t>
            </a:r>
            <a:pPr indent="0" marL="0">
              <a:buNone/>
            </a:pPr>
            <a:r>
              <a:rPr lang="en-US" sz="1000" dirty="0">
                <a:solidFill>
                  <a:srgbClr val="FFFFFF"/>
                </a:solidFill>
                <a:latin typeface="Calibri" pitchFamily="34" charset="0"/>
                <a:ea typeface="Calibri" pitchFamily="34" charset="-122"/>
                <a:cs typeface="Calibri" pitchFamily="34" charset="-120"/>
              </a:rPr>
              <a:t>Does the result match the patient's current condition?</a:t>
            </a:r>
            <a:endParaRPr lang="en-US" sz="1000" dirty="0"/>
          </a:p>
        </p:txBody>
      </p:sp>
      <p:sp>
        <p:nvSpPr>
          <p:cNvPr id="23" name="Text 21"/>
          <p:cNvSpPr/>
          <p:nvPr/>
        </p:nvSpPr>
        <p:spPr>
          <a:xfrm>
            <a:off x="7059168" y="2103120"/>
            <a:ext cx="1783080" cy="640080"/>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  </a:t>
            </a:r>
            <a:pPr indent="0" marL="0">
              <a:buNone/>
            </a:pPr>
            <a:r>
              <a:rPr lang="en-US" sz="1000" dirty="0">
                <a:solidFill>
                  <a:srgbClr val="FFFFFF"/>
                </a:solidFill>
                <a:latin typeface="Calibri" pitchFamily="34" charset="0"/>
                <a:ea typeface="Calibri" pitchFamily="34" charset="-122"/>
                <a:cs typeface="Calibri" pitchFamily="34" charset="-120"/>
              </a:rPr>
              <a:t>Are the input data complete and accurate?</a:t>
            </a:r>
            <a:endParaRPr lang="en-US" sz="1000" dirty="0"/>
          </a:p>
        </p:txBody>
      </p:sp>
      <p:sp>
        <p:nvSpPr>
          <p:cNvPr id="24" name="Text 22"/>
          <p:cNvSpPr/>
          <p:nvPr/>
        </p:nvSpPr>
        <p:spPr>
          <a:xfrm>
            <a:off x="7059168" y="2834640"/>
            <a:ext cx="1783080" cy="640080"/>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  </a:t>
            </a:r>
            <a:pPr indent="0" marL="0">
              <a:buNone/>
            </a:pPr>
            <a:r>
              <a:rPr lang="en-US" sz="1000" dirty="0">
                <a:solidFill>
                  <a:srgbClr val="FFFFFF"/>
                </a:solidFill>
                <a:latin typeface="Calibri" pitchFamily="34" charset="0"/>
                <a:ea typeface="Calibri" pitchFamily="34" charset="-122"/>
                <a:cs typeface="Calibri" pitchFamily="34" charset="-120"/>
              </a:rPr>
              <a:t>Is the patient worsening despite a low score?</a:t>
            </a:r>
            <a:endParaRPr lang="en-US" sz="1000" dirty="0"/>
          </a:p>
        </p:txBody>
      </p:sp>
      <p:sp>
        <p:nvSpPr>
          <p:cNvPr id="25" name="Text 23"/>
          <p:cNvSpPr/>
          <p:nvPr/>
        </p:nvSpPr>
        <p:spPr>
          <a:xfrm>
            <a:off x="7059168" y="3566160"/>
            <a:ext cx="1783080" cy="640080"/>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  </a:t>
            </a:r>
            <a:pPr indent="0" marL="0">
              <a:buNone/>
            </a:pPr>
            <a:r>
              <a:rPr lang="en-US" sz="1000" dirty="0">
                <a:solidFill>
                  <a:srgbClr val="FFFFFF"/>
                </a:solidFill>
                <a:latin typeface="Calibri" pitchFamily="34" charset="0"/>
                <a:ea typeface="Calibri" pitchFamily="34" charset="-122"/>
                <a:cs typeface="Calibri" pitchFamily="34" charset="-120"/>
              </a:rPr>
              <a:t>Is the patient stable despite a high score?</a:t>
            </a:r>
            <a:endParaRPr lang="en-US" sz="1000" dirty="0"/>
          </a:p>
        </p:txBody>
      </p:sp>
      <p:sp>
        <p:nvSpPr>
          <p:cNvPr id="26" name="Text 24"/>
          <p:cNvSpPr/>
          <p:nvPr/>
        </p:nvSpPr>
        <p:spPr>
          <a:xfrm>
            <a:off x="365760" y="4846320"/>
            <a:ext cx="8412480" cy="274320"/>
          </a:xfrm>
          <a:prstGeom prst="rect">
            <a:avLst/>
          </a:prstGeom>
          <a:noFill/>
          <a:ln/>
        </p:spPr>
        <p:txBody>
          <a:bodyPr wrap="square" lIns="0" tIns="0" rIns="0" bIns="0" rtlCol="0" anchor="ctr"/>
          <a:lstStyle/>
          <a:p>
            <a:pPr algn="ctr" indent="0" marL="0">
              <a:buNone/>
            </a:pPr>
            <a:r>
              <a:rPr lang="en-US" sz="1100" i="1" dirty="0">
                <a:solidFill>
                  <a:srgbClr val="8896A8"/>
                </a:solidFill>
                <a:latin typeface="Calibri" pitchFamily="34" charset="0"/>
                <a:ea typeface="Calibri" pitchFamily="34" charset="-122"/>
                <a:cs typeface="Calibri" pitchFamily="34" charset="-120"/>
              </a:rPr>
              <a:t>The score supports — it does not replace — clinical judgment.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Limitations &amp; Failure Modes</a:t>
            </a:r>
            <a:endParaRPr lang="en-US" sz="2400" dirty="0"/>
          </a:p>
        </p:txBody>
      </p:sp>
      <p:sp>
        <p:nvSpPr>
          <p:cNvPr id="4" name="Shape 2"/>
          <p:cNvSpPr/>
          <p:nvPr/>
        </p:nvSpPr>
        <p:spPr>
          <a:xfrm>
            <a:off x="228600" y="777240"/>
            <a:ext cx="2834640" cy="19202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28600" y="777240"/>
            <a:ext cx="2834640" cy="64008"/>
          </a:xfrm>
          <a:prstGeom prst="rect">
            <a:avLst/>
          </a:prstGeom>
          <a:solidFill>
            <a:srgbClr val="C0392B"/>
          </a:solidFill>
          <a:ln w="12700">
            <a:solidFill>
              <a:srgbClr val="C0392B"/>
            </a:solidFill>
            <a:prstDash val="solid"/>
          </a:ln>
        </p:spPr>
      </p:sp>
      <p:sp>
        <p:nvSpPr>
          <p:cNvPr id="6" name="Text 4"/>
          <p:cNvSpPr/>
          <p:nvPr/>
        </p:nvSpPr>
        <p:spPr>
          <a:xfrm>
            <a:off x="228600" y="868680"/>
            <a:ext cx="6400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338328" y="1371600"/>
            <a:ext cx="2615184" cy="32004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Single Dataset Only</a:t>
            </a:r>
            <a:endParaRPr lang="en-US" sz="1200" dirty="0"/>
          </a:p>
        </p:txBody>
      </p:sp>
      <p:sp>
        <p:nvSpPr>
          <p:cNvPr id="8" name="Text 6"/>
          <p:cNvSpPr/>
          <p:nvPr/>
        </p:nvSpPr>
        <p:spPr>
          <a:xfrm>
            <a:off x="338328" y="1691640"/>
            <a:ext cx="2615184" cy="9601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Tested on one internal ICU dataset from Kaggle. Performance in other hospitals, health systems, or patient populations is unknown.</a:t>
            </a:r>
            <a:endParaRPr lang="en-US" sz="1050" dirty="0"/>
          </a:p>
        </p:txBody>
      </p:sp>
      <p:sp>
        <p:nvSpPr>
          <p:cNvPr id="9" name="Shape 7"/>
          <p:cNvSpPr/>
          <p:nvPr/>
        </p:nvSpPr>
        <p:spPr>
          <a:xfrm>
            <a:off x="3246120" y="777240"/>
            <a:ext cx="2834640" cy="19202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46120" y="777240"/>
            <a:ext cx="2834640" cy="64008"/>
          </a:xfrm>
          <a:prstGeom prst="rect">
            <a:avLst/>
          </a:prstGeom>
          <a:solidFill>
            <a:srgbClr val="C0392B"/>
          </a:solidFill>
          <a:ln w="12700">
            <a:solidFill>
              <a:srgbClr val="C0392B"/>
            </a:solidFill>
            <a:prstDash val="solid"/>
          </a:ln>
        </p:spPr>
      </p:sp>
      <p:sp>
        <p:nvSpPr>
          <p:cNvPr id="11" name="Text 9"/>
          <p:cNvSpPr/>
          <p:nvPr/>
        </p:nvSpPr>
        <p:spPr>
          <a:xfrm>
            <a:off x="3246120" y="868680"/>
            <a:ext cx="6400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355848" y="1371600"/>
            <a:ext cx="2615184" cy="32004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Modest Discriminative Power</a:t>
            </a:r>
            <a:endParaRPr lang="en-US" sz="1200" dirty="0"/>
          </a:p>
        </p:txBody>
      </p:sp>
      <p:sp>
        <p:nvSpPr>
          <p:cNvPr id="13" name="Text 11"/>
          <p:cNvSpPr/>
          <p:nvPr/>
        </p:nvSpPr>
        <p:spPr>
          <a:xfrm>
            <a:off x="3355848" y="1691640"/>
            <a:ext cx="2615184" cy="9601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AUROC ~0.61 is only slightly better than chance. Both models should be understood as risk-awareness tools, not diagnostic instruments.</a:t>
            </a:r>
            <a:endParaRPr lang="en-US" sz="1050" dirty="0"/>
          </a:p>
        </p:txBody>
      </p:sp>
      <p:sp>
        <p:nvSpPr>
          <p:cNvPr id="14" name="Shape 12"/>
          <p:cNvSpPr/>
          <p:nvPr/>
        </p:nvSpPr>
        <p:spPr>
          <a:xfrm>
            <a:off x="6263640" y="777240"/>
            <a:ext cx="2834640" cy="19202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6263640" y="777240"/>
            <a:ext cx="2834640" cy="64008"/>
          </a:xfrm>
          <a:prstGeom prst="rect">
            <a:avLst/>
          </a:prstGeom>
          <a:solidFill>
            <a:srgbClr val="C0392B"/>
          </a:solidFill>
          <a:ln w="12700">
            <a:solidFill>
              <a:srgbClr val="C0392B"/>
            </a:solidFill>
            <a:prstDash val="solid"/>
          </a:ln>
        </p:spPr>
      </p:sp>
      <p:sp>
        <p:nvSpPr>
          <p:cNvPr id="16" name="Text 14"/>
          <p:cNvSpPr/>
          <p:nvPr/>
        </p:nvSpPr>
        <p:spPr>
          <a:xfrm>
            <a:off x="6263640" y="868680"/>
            <a:ext cx="6400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6373368" y="1371600"/>
            <a:ext cx="2615184" cy="32004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False Positives &amp; Alarm Fatigue</a:t>
            </a:r>
            <a:endParaRPr lang="en-US" sz="1200" dirty="0"/>
          </a:p>
        </p:txBody>
      </p:sp>
      <p:sp>
        <p:nvSpPr>
          <p:cNvPr id="18" name="Text 16"/>
          <p:cNvSpPr/>
          <p:nvPr/>
        </p:nvSpPr>
        <p:spPr>
          <a:xfrm>
            <a:off x="6373368" y="1691640"/>
            <a:ext cx="2615184" cy="9601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Precision ~27% means roughly 73% of high-risk flags are incorrect. In a high-acuity setting, this creates a meaningful alarm fatigue risk.</a:t>
            </a:r>
            <a:endParaRPr lang="en-US" sz="1050" dirty="0"/>
          </a:p>
        </p:txBody>
      </p:sp>
      <p:sp>
        <p:nvSpPr>
          <p:cNvPr id="19" name="Shape 17"/>
          <p:cNvSpPr/>
          <p:nvPr/>
        </p:nvSpPr>
        <p:spPr>
          <a:xfrm>
            <a:off x="228600" y="2788920"/>
            <a:ext cx="2834640" cy="19202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228600" y="2788920"/>
            <a:ext cx="2834640" cy="64008"/>
          </a:xfrm>
          <a:prstGeom prst="rect">
            <a:avLst/>
          </a:prstGeom>
          <a:solidFill>
            <a:srgbClr val="C0392B"/>
          </a:solidFill>
          <a:ln w="12700">
            <a:solidFill>
              <a:srgbClr val="C0392B"/>
            </a:solidFill>
            <a:prstDash val="solid"/>
          </a:ln>
        </p:spPr>
      </p:sp>
      <p:sp>
        <p:nvSpPr>
          <p:cNvPr id="21" name="Text 19"/>
          <p:cNvSpPr/>
          <p:nvPr/>
        </p:nvSpPr>
        <p:spPr>
          <a:xfrm>
            <a:off x="228600" y="2880360"/>
            <a:ext cx="6400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338328" y="3383280"/>
            <a:ext cx="2615184" cy="32004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False Negatives &amp; False Reassurance</a:t>
            </a:r>
            <a:endParaRPr lang="en-US" sz="1200" dirty="0"/>
          </a:p>
        </p:txBody>
      </p:sp>
      <p:sp>
        <p:nvSpPr>
          <p:cNvPr id="23" name="Text 21"/>
          <p:cNvSpPr/>
          <p:nvPr/>
        </p:nvSpPr>
        <p:spPr>
          <a:xfrm>
            <a:off x="338328" y="3703320"/>
            <a:ext cx="2615184" cy="9601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Recall ~75% means ~25% of patients who die are not flagged. A low score must never be used to deprioritize a patient showing clinical decline.</a:t>
            </a:r>
            <a:endParaRPr lang="en-US" sz="1050" dirty="0"/>
          </a:p>
        </p:txBody>
      </p:sp>
      <p:sp>
        <p:nvSpPr>
          <p:cNvPr id="24" name="Shape 22"/>
          <p:cNvSpPr/>
          <p:nvPr/>
        </p:nvSpPr>
        <p:spPr>
          <a:xfrm>
            <a:off x="3246120" y="2788920"/>
            <a:ext cx="2834640" cy="19202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246120" y="2788920"/>
            <a:ext cx="2834640" cy="64008"/>
          </a:xfrm>
          <a:prstGeom prst="rect">
            <a:avLst/>
          </a:prstGeom>
          <a:solidFill>
            <a:srgbClr val="C0392B"/>
          </a:solidFill>
          <a:ln w="12700">
            <a:solidFill>
              <a:srgbClr val="C0392B"/>
            </a:solidFill>
            <a:prstDash val="solid"/>
          </a:ln>
        </p:spPr>
      </p:sp>
      <p:sp>
        <p:nvSpPr>
          <p:cNvPr id="26" name="Text 24"/>
          <p:cNvSpPr/>
          <p:nvPr/>
        </p:nvSpPr>
        <p:spPr>
          <a:xfrm>
            <a:off x="3246120" y="2880360"/>
            <a:ext cx="6400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3355848" y="3383280"/>
            <a:ext cx="2615184" cy="32004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No Subgroup Validation</a:t>
            </a:r>
            <a:endParaRPr lang="en-US" sz="1200" dirty="0"/>
          </a:p>
        </p:txBody>
      </p:sp>
      <p:sp>
        <p:nvSpPr>
          <p:cNvPr id="28" name="Text 26"/>
          <p:cNvSpPr/>
          <p:nvPr/>
        </p:nvSpPr>
        <p:spPr>
          <a:xfrm>
            <a:off x="3355848" y="3703320"/>
            <a:ext cx="2615184" cy="9601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Subgroup analyses (age, diagnosis, admission type) and comparison with clinician performance were not performed.</a:t>
            </a:r>
            <a:endParaRPr lang="en-US" sz="1050" dirty="0"/>
          </a:p>
        </p:txBody>
      </p:sp>
      <p:sp>
        <p:nvSpPr>
          <p:cNvPr id="29" name="Shape 27"/>
          <p:cNvSpPr/>
          <p:nvPr/>
        </p:nvSpPr>
        <p:spPr>
          <a:xfrm>
            <a:off x="6263640" y="2788920"/>
            <a:ext cx="2834640" cy="1920240"/>
          </a:xfrm>
          <a:prstGeom prst="rect">
            <a:avLst/>
          </a:prstGeom>
          <a:solidFill>
            <a:srgbClr val="FFFFFF"/>
          </a:solidFill>
          <a:ln w="12700">
            <a:solidFill>
              <a:srgbClr val="D9E2EC"/>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6263640" y="2788920"/>
            <a:ext cx="2834640" cy="64008"/>
          </a:xfrm>
          <a:prstGeom prst="rect">
            <a:avLst/>
          </a:prstGeom>
          <a:solidFill>
            <a:srgbClr val="C0392B"/>
          </a:solidFill>
          <a:ln w="12700">
            <a:solidFill>
              <a:srgbClr val="C0392B"/>
            </a:solidFill>
            <a:prstDash val="solid"/>
          </a:ln>
        </p:spPr>
      </p:sp>
      <p:sp>
        <p:nvSpPr>
          <p:cNvPr id="31" name="Text 29"/>
          <p:cNvSpPr/>
          <p:nvPr/>
        </p:nvSpPr>
        <p:spPr>
          <a:xfrm>
            <a:off x="6263640" y="2880360"/>
            <a:ext cx="6400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2" name="Text 30"/>
          <p:cNvSpPr/>
          <p:nvPr/>
        </p:nvSpPr>
        <p:spPr>
          <a:xfrm>
            <a:off x="6373368" y="3383280"/>
            <a:ext cx="2615184" cy="32004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Data Quality Dependency</a:t>
            </a:r>
            <a:endParaRPr lang="en-US" sz="1200" dirty="0"/>
          </a:p>
        </p:txBody>
      </p:sp>
      <p:sp>
        <p:nvSpPr>
          <p:cNvPr id="33" name="Text 31"/>
          <p:cNvSpPr/>
          <p:nvPr/>
        </p:nvSpPr>
        <p:spPr>
          <a:xfrm>
            <a:off x="6373368" y="3703320"/>
            <a:ext cx="2615184" cy="9601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Performance degrades with missing, delayed, inaccurate, or non-representative input data.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Human Override &amp; Clinical Workflow</a:t>
            </a:r>
            <a:endParaRPr lang="en-US" sz="2400" dirty="0"/>
          </a:p>
        </p:txBody>
      </p:sp>
      <p:sp>
        <p:nvSpPr>
          <p:cNvPr id="4" name="Shape 2"/>
          <p:cNvSpPr/>
          <p:nvPr/>
        </p:nvSpPr>
        <p:spPr>
          <a:xfrm>
            <a:off x="274320" y="822960"/>
            <a:ext cx="8595360" cy="731520"/>
          </a:xfrm>
          <a:prstGeom prst="rect">
            <a:avLst/>
          </a:prstGeom>
          <a:solidFill>
            <a:srgbClr val="FFFFFF"/>
          </a:solidFill>
          <a:ln w="12700">
            <a:solidFill>
              <a:srgbClr val="D9E2EC"/>
            </a:solidFill>
            <a:prstDash val="solid"/>
          </a:ln>
        </p:spPr>
      </p:sp>
      <p:sp>
        <p:nvSpPr>
          <p:cNvPr id="5" name="Shape 3"/>
          <p:cNvSpPr/>
          <p:nvPr/>
        </p:nvSpPr>
        <p:spPr>
          <a:xfrm>
            <a:off x="274320" y="822960"/>
            <a:ext cx="64008" cy="731520"/>
          </a:xfrm>
          <a:prstGeom prst="rect">
            <a:avLst/>
          </a:prstGeom>
          <a:solidFill>
            <a:srgbClr val="0E7C7B"/>
          </a:solidFill>
          <a:ln w="12700">
            <a:solidFill>
              <a:srgbClr val="0E7C7B"/>
            </a:solidFill>
            <a:prstDash val="solid"/>
          </a:ln>
        </p:spPr>
      </p:sp>
      <p:sp>
        <p:nvSpPr>
          <p:cNvPr id="6" name="Text 4"/>
          <p:cNvSpPr/>
          <p:nvPr/>
        </p:nvSpPr>
        <p:spPr>
          <a:xfrm>
            <a:off x="429768" y="868680"/>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SITUATION</a:t>
            </a:r>
            <a:endParaRPr lang="en-US" sz="750" dirty="0"/>
          </a:p>
        </p:txBody>
      </p:sp>
      <p:sp>
        <p:nvSpPr>
          <p:cNvPr id="7" name="Text 5"/>
          <p:cNvSpPr/>
          <p:nvPr/>
        </p:nvSpPr>
        <p:spPr>
          <a:xfrm>
            <a:off x="429768" y="1060704"/>
            <a:ext cx="3840480" cy="42062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High score, low clinical concern</a:t>
            </a:r>
            <a:endParaRPr lang="en-US" sz="1200" dirty="0"/>
          </a:p>
        </p:txBody>
      </p:sp>
      <p:sp>
        <p:nvSpPr>
          <p:cNvPr id="8" name="Text 6"/>
          <p:cNvSpPr/>
          <p:nvPr/>
        </p:nvSpPr>
        <p:spPr>
          <a:xfrm>
            <a:off x="4480560" y="868680"/>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ACTION</a:t>
            </a:r>
            <a:endParaRPr lang="en-US" sz="750" dirty="0"/>
          </a:p>
        </p:txBody>
      </p:sp>
      <p:sp>
        <p:nvSpPr>
          <p:cNvPr id="9" name="Text 7"/>
          <p:cNvSpPr/>
          <p:nvPr/>
        </p:nvSpPr>
        <p:spPr>
          <a:xfrm>
            <a:off x="4480560" y="1060704"/>
            <a:ext cx="4297680" cy="420624"/>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Recheck data and reassess patient. Do not escalate on score alone.</a:t>
            </a:r>
            <a:endParaRPr lang="en-US" sz="1200" dirty="0"/>
          </a:p>
        </p:txBody>
      </p:sp>
      <p:sp>
        <p:nvSpPr>
          <p:cNvPr id="10" name="Shape 8"/>
          <p:cNvSpPr/>
          <p:nvPr/>
        </p:nvSpPr>
        <p:spPr>
          <a:xfrm>
            <a:off x="4434840" y="914400"/>
            <a:ext cx="36576" cy="548640"/>
          </a:xfrm>
          <a:prstGeom prst="rect">
            <a:avLst/>
          </a:prstGeom>
          <a:solidFill>
            <a:srgbClr val="D9E2EC"/>
          </a:solidFill>
          <a:ln w="12700">
            <a:solidFill>
              <a:srgbClr val="D9E2EC"/>
            </a:solidFill>
            <a:prstDash val="solid"/>
          </a:ln>
        </p:spPr>
      </p:sp>
      <p:sp>
        <p:nvSpPr>
          <p:cNvPr id="11" name="Shape 9"/>
          <p:cNvSpPr/>
          <p:nvPr/>
        </p:nvSpPr>
        <p:spPr>
          <a:xfrm>
            <a:off x="274320" y="1627632"/>
            <a:ext cx="8595360" cy="731520"/>
          </a:xfrm>
          <a:prstGeom prst="rect">
            <a:avLst/>
          </a:prstGeom>
          <a:solidFill>
            <a:srgbClr val="EBF4F8"/>
          </a:solidFill>
          <a:ln w="12700">
            <a:solidFill>
              <a:srgbClr val="D9E2EC"/>
            </a:solidFill>
            <a:prstDash val="solid"/>
          </a:ln>
        </p:spPr>
      </p:sp>
      <p:sp>
        <p:nvSpPr>
          <p:cNvPr id="12" name="Shape 10"/>
          <p:cNvSpPr/>
          <p:nvPr/>
        </p:nvSpPr>
        <p:spPr>
          <a:xfrm>
            <a:off x="274320" y="1627632"/>
            <a:ext cx="64008" cy="731520"/>
          </a:xfrm>
          <a:prstGeom prst="rect">
            <a:avLst/>
          </a:prstGeom>
          <a:solidFill>
            <a:srgbClr val="0E7C7B"/>
          </a:solidFill>
          <a:ln w="12700">
            <a:solidFill>
              <a:srgbClr val="0E7C7B"/>
            </a:solidFill>
            <a:prstDash val="solid"/>
          </a:ln>
        </p:spPr>
      </p:sp>
      <p:sp>
        <p:nvSpPr>
          <p:cNvPr id="13" name="Text 11"/>
          <p:cNvSpPr/>
          <p:nvPr/>
        </p:nvSpPr>
        <p:spPr>
          <a:xfrm>
            <a:off x="429768" y="1673352"/>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SITUATION</a:t>
            </a:r>
            <a:endParaRPr lang="en-US" sz="750" dirty="0"/>
          </a:p>
        </p:txBody>
      </p:sp>
      <p:sp>
        <p:nvSpPr>
          <p:cNvPr id="14" name="Text 12"/>
          <p:cNvSpPr/>
          <p:nvPr/>
        </p:nvSpPr>
        <p:spPr>
          <a:xfrm>
            <a:off x="429768" y="1865376"/>
            <a:ext cx="3840480" cy="42062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Low score, high clinical concern</a:t>
            </a:r>
            <a:endParaRPr lang="en-US" sz="1200" dirty="0"/>
          </a:p>
        </p:txBody>
      </p:sp>
      <p:sp>
        <p:nvSpPr>
          <p:cNvPr id="15" name="Text 13"/>
          <p:cNvSpPr/>
          <p:nvPr/>
        </p:nvSpPr>
        <p:spPr>
          <a:xfrm>
            <a:off x="4480560" y="1673352"/>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ACTION</a:t>
            </a:r>
            <a:endParaRPr lang="en-US" sz="750" dirty="0"/>
          </a:p>
        </p:txBody>
      </p:sp>
      <p:sp>
        <p:nvSpPr>
          <p:cNvPr id="16" name="Text 14"/>
          <p:cNvSpPr/>
          <p:nvPr/>
        </p:nvSpPr>
        <p:spPr>
          <a:xfrm>
            <a:off x="4480560" y="1865376"/>
            <a:ext cx="4297680" cy="420624"/>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Follow the bedside picture. Do not let a low score override concern about deterioration.</a:t>
            </a:r>
            <a:endParaRPr lang="en-US" sz="1200" dirty="0"/>
          </a:p>
        </p:txBody>
      </p:sp>
      <p:sp>
        <p:nvSpPr>
          <p:cNvPr id="17" name="Shape 15"/>
          <p:cNvSpPr/>
          <p:nvPr/>
        </p:nvSpPr>
        <p:spPr>
          <a:xfrm>
            <a:off x="4434840" y="1719072"/>
            <a:ext cx="36576" cy="548640"/>
          </a:xfrm>
          <a:prstGeom prst="rect">
            <a:avLst/>
          </a:prstGeom>
          <a:solidFill>
            <a:srgbClr val="D9E2EC"/>
          </a:solidFill>
          <a:ln w="12700">
            <a:solidFill>
              <a:srgbClr val="D9E2EC"/>
            </a:solidFill>
            <a:prstDash val="solid"/>
          </a:ln>
        </p:spPr>
      </p:sp>
      <p:sp>
        <p:nvSpPr>
          <p:cNvPr id="18" name="Shape 16"/>
          <p:cNvSpPr/>
          <p:nvPr/>
        </p:nvSpPr>
        <p:spPr>
          <a:xfrm>
            <a:off x="274320" y="2432304"/>
            <a:ext cx="8595360" cy="731520"/>
          </a:xfrm>
          <a:prstGeom prst="rect">
            <a:avLst/>
          </a:prstGeom>
          <a:solidFill>
            <a:srgbClr val="FFFFFF"/>
          </a:solidFill>
          <a:ln w="12700">
            <a:solidFill>
              <a:srgbClr val="D9E2EC"/>
            </a:solidFill>
            <a:prstDash val="solid"/>
          </a:ln>
        </p:spPr>
      </p:sp>
      <p:sp>
        <p:nvSpPr>
          <p:cNvPr id="19" name="Shape 17"/>
          <p:cNvSpPr/>
          <p:nvPr/>
        </p:nvSpPr>
        <p:spPr>
          <a:xfrm>
            <a:off x="274320" y="2432304"/>
            <a:ext cx="64008" cy="731520"/>
          </a:xfrm>
          <a:prstGeom prst="rect">
            <a:avLst/>
          </a:prstGeom>
          <a:solidFill>
            <a:srgbClr val="0E7C7B"/>
          </a:solidFill>
          <a:ln w="12700">
            <a:solidFill>
              <a:srgbClr val="0E7C7B"/>
            </a:solidFill>
            <a:prstDash val="solid"/>
          </a:ln>
        </p:spPr>
      </p:sp>
      <p:sp>
        <p:nvSpPr>
          <p:cNvPr id="20" name="Text 18"/>
          <p:cNvSpPr/>
          <p:nvPr/>
        </p:nvSpPr>
        <p:spPr>
          <a:xfrm>
            <a:off x="429768" y="2478024"/>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SITUATION</a:t>
            </a:r>
            <a:endParaRPr lang="en-US" sz="750" dirty="0"/>
          </a:p>
        </p:txBody>
      </p:sp>
      <p:sp>
        <p:nvSpPr>
          <p:cNvPr id="21" name="Text 19"/>
          <p:cNvSpPr/>
          <p:nvPr/>
        </p:nvSpPr>
        <p:spPr>
          <a:xfrm>
            <a:off x="429768" y="2670048"/>
            <a:ext cx="3840480" cy="42062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Missing or unreliable data</a:t>
            </a:r>
            <a:endParaRPr lang="en-US" sz="1200" dirty="0"/>
          </a:p>
        </p:txBody>
      </p:sp>
      <p:sp>
        <p:nvSpPr>
          <p:cNvPr id="22" name="Text 20"/>
          <p:cNvSpPr/>
          <p:nvPr/>
        </p:nvSpPr>
        <p:spPr>
          <a:xfrm>
            <a:off x="4480560" y="2478024"/>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ACTION</a:t>
            </a:r>
            <a:endParaRPr lang="en-US" sz="750" dirty="0"/>
          </a:p>
        </p:txBody>
      </p:sp>
      <p:sp>
        <p:nvSpPr>
          <p:cNvPr id="23" name="Text 21"/>
          <p:cNvSpPr/>
          <p:nvPr/>
        </p:nvSpPr>
        <p:spPr>
          <a:xfrm>
            <a:off x="4480560" y="2670048"/>
            <a:ext cx="4297680" cy="420624"/>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Do not rely on the score until the data are verified.</a:t>
            </a:r>
            <a:endParaRPr lang="en-US" sz="1200" dirty="0"/>
          </a:p>
        </p:txBody>
      </p:sp>
      <p:sp>
        <p:nvSpPr>
          <p:cNvPr id="24" name="Shape 22"/>
          <p:cNvSpPr/>
          <p:nvPr/>
        </p:nvSpPr>
        <p:spPr>
          <a:xfrm>
            <a:off x="4434840" y="2523744"/>
            <a:ext cx="36576" cy="548640"/>
          </a:xfrm>
          <a:prstGeom prst="rect">
            <a:avLst/>
          </a:prstGeom>
          <a:solidFill>
            <a:srgbClr val="D9E2EC"/>
          </a:solidFill>
          <a:ln w="12700">
            <a:solidFill>
              <a:srgbClr val="D9E2EC"/>
            </a:solidFill>
            <a:prstDash val="solid"/>
          </a:ln>
        </p:spPr>
      </p:sp>
      <p:sp>
        <p:nvSpPr>
          <p:cNvPr id="25" name="Shape 23"/>
          <p:cNvSpPr/>
          <p:nvPr/>
        </p:nvSpPr>
        <p:spPr>
          <a:xfrm>
            <a:off x="274320" y="3236976"/>
            <a:ext cx="8595360" cy="731520"/>
          </a:xfrm>
          <a:prstGeom prst="rect">
            <a:avLst/>
          </a:prstGeom>
          <a:solidFill>
            <a:srgbClr val="EBF4F8"/>
          </a:solidFill>
          <a:ln w="12700">
            <a:solidFill>
              <a:srgbClr val="D9E2EC"/>
            </a:solidFill>
            <a:prstDash val="solid"/>
          </a:ln>
        </p:spPr>
      </p:sp>
      <p:sp>
        <p:nvSpPr>
          <p:cNvPr id="26" name="Shape 24"/>
          <p:cNvSpPr/>
          <p:nvPr/>
        </p:nvSpPr>
        <p:spPr>
          <a:xfrm>
            <a:off x="274320" y="3236976"/>
            <a:ext cx="64008" cy="731520"/>
          </a:xfrm>
          <a:prstGeom prst="rect">
            <a:avLst/>
          </a:prstGeom>
          <a:solidFill>
            <a:srgbClr val="0E7C7B"/>
          </a:solidFill>
          <a:ln w="12700">
            <a:solidFill>
              <a:srgbClr val="0E7C7B"/>
            </a:solidFill>
            <a:prstDash val="solid"/>
          </a:ln>
        </p:spPr>
      </p:sp>
      <p:sp>
        <p:nvSpPr>
          <p:cNvPr id="27" name="Text 25"/>
          <p:cNvSpPr/>
          <p:nvPr/>
        </p:nvSpPr>
        <p:spPr>
          <a:xfrm>
            <a:off x="429768" y="3282696"/>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SITUATION</a:t>
            </a:r>
            <a:endParaRPr lang="en-US" sz="750" dirty="0"/>
          </a:p>
        </p:txBody>
      </p:sp>
      <p:sp>
        <p:nvSpPr>
          <p:cNvPr id="28" name="Text 26"/>
          <p:cNvSpPr/>
          <p:nvPr/>
        </p:nvSpPr>
        <p:spPr>
          <a:xfrm>
            <a:off x="429768" y="3474720"/>
            <a:ext cx="3840480" cy="42062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Patient outside validated population</a:t>
            </a:r>
            <a:endParaRPr lang="en-US" sz="1200" dirty="0"/>
          </a:p>
        </p:txBody>
      </p:sp>
      <p:sp>
        <p:nvSpPr>
          <p:cNvPr id="29" name="Text 27"/>
          <p:cNvSpPr/>
          <p:nvPr/>
        </p:nvSpPr>
        <p:spPr>
          <a:xfrm>
            <a:off x="4480560" y="3282696"/>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ACTION</a:t>
            </a:r>
            <a:endParaRPr lang="en-US" sz="750" dirty="0"/>
          </a:p>
        </p:txBody>
      </p:sp>
      <p:sp>
        <p:nvSpPr>
          <p:cNvPr id="30" name="Text 28"/>
          <p:cNvSpPr/>
          <p:nvPr/>
        </p:nvSpPr>
        <p:spPr>
          <a:xfrm>
            <a:off x="4480560" y="3474720"/>
            <a:ext cx="4297680" cy="420624"/>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Use extra caution. Treat result as supplemental information only.</a:t>
            </a:r>
            <a:endParaRPr lang="en-US" sz="1200" dirty="0"/>
          </a:p>
        </p:txBody>
      </p:sp>
      <p:sp>
        <p:nvSpPr>
          <p:cNvPr id="31" name="Shape 29"/>
          <p:cNvSpPr/>
          <p:nvPr/>
        </p:nvSpPr>
        <p:spPr>
          <a:xfrm>
            <a:off x="4434840" y="3328416"/>
            <a:ext cx="36576" cy="548640"/>
          </a:xfrm>
          <a:prstGeom prst="rect">
            <a:avLst/>
          </a:prstGeom>
          <a:solidFill>
            <a:srgbClr val="D9E2EC"/>
          </a:solidFill>
          <a:ln w="12700">
            <a:solidFill>
              <a:srgbClr val="D9E2EC"/>
            </a:solidFill>
            <a:prstDash val="solid"/>
          </a:ln>
        </p:spPr>
      </p:sp>
      <p:sp>
        <p:nvSpPr>
          <p:cNvPr id="32" name="Shape 30"/>
          <p:cNvSpPr/>
          <p:nvPr/>
        </p:nvSpPr>
        <p:spPr>
          <a:xfrm>
            <a:off x="274320" y="4041648"/>
            <a:ext cx="8595360" cy="731520"/>
          </a:xfrm>
          <a:prstGeom prst="rect">
            <a:avLst/>
          </a:prstGeom>
          <a:solidFill>
            <a:srgbClr val="FFFFFF"/>
          </a:solidFill>
          <a:ln w="12700">
            <a:solidFill>
              <a:srgbClr val="D9E2EC"/>
            </a:solidFill>
            <a:prstDash val="solid"/>
          </a:ln>
        </p:spPr>
      </p:sp>
      <p:sp>
        <p:nvSpPr>
          <p:cNvPr id="33" name="Shape 31"/>
          <p:cNvSpPr/>
          <p:nvPr/>
        </p:nvSpPr>
        <p:spPr>
          <a:xfrm>
            <a:off x="274320" y="4041648"/>
            <a:ext cx="64008" cy="731520"/>
          </a:xfrm>
          <a:prstGeom prst="rect">
            <a:avLst/>
          </a:prstGeom>
          <a:solidFill>
            <a:srgbClr val="0E7C7B"/>
          </a:solidFill>
          <a:ln w="12700">
            <a:solidFill>
              <a:srgbClr val="0E7C7B"/>
            </a:solidFill>
            <a:prstDash val="solid"/>
          </a:ln>
        </p:spPr>
      </p:sp>
      <p:sp>
        <p:nvSpPr>
          <p:cNvPr id="34" name="Text 32"/>
          <p:cNvSpPr/>
          <p:nvPr/>
        </p:nvSpPr>
        <p:spPr>
          <a:xfrm>
            <a:off x="429768" y="4087368"/>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SITUATION</a:t>
            </a:r>
            <a:endParaRPr lang="en-US" sz="750" dirty="0"/>
          </a:p>
        </p:txBody>
      </p:sp>
      <p:sp>
        <p:nvSpPr>
          <p:cNvPr id="35" name="Text 33"/>
          <p:cNvSpPr/>
          <p:nvPr/>
        </p:nvSpPr>
        <p:spPr>
          <a:xfrm>
            <a:off x="429768" y="4279392"/>
            <a:ext cx="3840480" cy="42062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High-stakes decisions</a:t>
            </a:r>
            <a:endParaRPr lang="en-US" sz="1200" dirty="0"/>
          </a:p>
        </p:txBody>
      </p:sp>
      <p:sp>
        <p:nvSpPr>
          <p:cNvPr id="36" name="Text 34"/>
          <p:cNvSpPr/>
          <p:nvPr/>
        </p:nvSpPr>
        <p:spPr>
          <a:xfrm>
            <a:off x="4480560" y="4087368"/>
            <a:ext cx="914400" cy="182880"/>
          </a:xfrm>
          <a:prstGeom prst="rect">
            <a:avLst/>
          </a:prstGeom>
          <a:noFill/>
          <a:ln/>
        </p:spPr>
        <p:txBody>
          <a:bodyPr wrap="square" lIns="0" tIns="0" rIns="0" bIns="0" rtlCol="0" anchor="ctr"/>
          <a:lstStyle/>
          <a:p>
            <a:pPr indent="0" marL="0">
              <a:buNone/>
            </a:pPr>
            <a:r>
              <a:rPr lang="en-US" sz="750" b="1" dirty="0">
                <a:solidFill>
                  <a:srgbClr val="8896A8"/>
                </a:solidFill>
                <a:latin typeface="Calibri" pitchFamily="34" charset="0"/>
                <a:ea typeface="Calibri" pitchFamily="34" charset="-122"/>
                <a:cs typeface="Calibri" pitchFamily="34" charset="-120"/>
              </a:rPr>
              <a:t>ACTION</a:t>
            </a:r>
            <a:endParaRPr lang="en-US" sz="750" dirty="0"/>
          </a:p>
        </p:txBody>
      </p:sp>
      <p:sp>
        <p:nvSpPr>
          <p:cNvPr id="37" name="Text 35"/>
          <p:cNvSpPr/>
          <p:nvPr/>
        </p:nvSpPr>
        <p:spPr>
          <a:xfrm>
            <a:off x="4480560" y="4279392"/>
            <a:ext cx="4297680" cy="420624"/>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Never use the score alone for major treatment or goals-of-care decisions.</a:t>
            </a:r>
            <a:endParaRPr lang="en-US" sz="1200" dirty="0"/>
          </a:p>
        </p:txBody>
      </p:sp>
      <p:sp>
        <p:nvSpPr>
          <p:cNvPr id="38" name="Shape 36"/>
          <p:cNvSpPr/>
          <p:nvPr/>
        </p:nvSpPr>
        <p:spPr>
          <a:xfrm>
            <a:off x="4434840" y="4133088"/>
            <a:ext cx="36576" cy="548640"/>
          </a:xfrm>
          <a:prstGeom prst="rect">
            <a:avLst/>
          </a:prstGeom>
          <a:solidFill>
            <a:srgbClr val="D9E2EC"/>
          </a:solidFill>
          <a:ln w="12700">
            <a:solidFill>
              <a:srgbClr val="D9E2EC"/>
            </a:solidFill>
            <a:prstDash val="solid"/>
          </a:ln>
        </p:spPr>
      </p:sp>
      <p:sp>
        <p:nvSpPr>
          <p:cNvPr id="39" name="Text 37"/>
          <p:cNvSpPr/>
          <p:nvPr/>
        </p:nvSpPr>
        <p:spPr>
          <a:xfrm>
            <a:off x="365760" y="4864608"/>
            <a:ext cx="8412480" cy="274320"/>
          </a:xfrm>
          <a:prstGeom prst="rect">
            <a:avLst/>
          </a:prstGeom>
          <a:noFill/>
          <a:ln/>
        </p:spPr>
        <p:txBody>
          <a:bodyPr wrap="square" lIns="0" tIns="0" rIns="0" bIns="0" rtlCol="0" anchor="ctr"/>
          <a:lstStyle/>
          <a:p>
            <a:pPr algn="ctr" indent="0" marL="0">
              <a:buNone/>
            </a:pPr>
            <a:r>
              <a:rPr lang="en-US" sz="1100" i="1" dirty="0">
                <a:solidFill>
                  <a:srgbClr val="8896A8"/>
                </a:solidFill>
                <a:latin typeface="Calibri" pitchFamily="34" charset="0"/>
                <a:ea typeface="Calibri" pitchFamily="34" charset="-122"/>
                <a:cs typeface="Calibri" pitchFamily="34" charset="-120"/>
              </a:rPr>
              <a:t>The tool fits best into routine ICU care as an added risk-awareness step during admission, rounds, handoff, or changes in patient status.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Shape 1"/>
          <p:cNvSpPr/>
          <p:nvPr/>
        </p:nvSpPr>
        <p:spPr>
          <a:xfrm>
            <a:off x="6858000" y="3749040"/>
            <a:ext cx="2286000" cy="1394460"/>
          </a:xfrm>
          <a:prstGeom prst="rect">
            <a:avLst/>
          </a:prstGeom>
          <a:solidFill>
            <a:srgbClr val="0E3D3D">
              <a:alpha val="60000"/>
            </a:srgbClr>
          </a:solidFill>
          <a:ln w="12700">
            <a:solidFill>
              <a:srgbClr val="0E3D3D">
                <a:alpha val="60000"/>
              </a:srgbClr>
            </a:solidFill>
            <a:prstDash val="solid"/>
          </a:ln>
        </p:spPr>
      </p:sp>
      <p:sp>
        <p:nvSpPr>
          <p:cNvPr id="4" name="Text 2"/>
          <p:cNvSpPr/>
          <p:nvPr/>
        </p:nvSpPr>
        <p:spPr>
          <a:xfrm>
            <a:off x="411480" y="320040"/>
            <a:ext cx="8321040" cy="5943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Conclusions</a:t>
            </a:r>
            <a:endParaRPr lang="en-US" sz="3200" dirty="0"/>
          </a:p>
        </p:txBody>
      </p:sp>
      <p:sp>
        <p:nvSpPr>
          <p:cNvPr id="5" name="Shape 3"/>
          <p:cNvSpPr/>
          <p:nvPr/>
        </p:nvSpPr>
        <p:spPr>
          <a:xfrm>
            <a:off x="411480" y="960120"/>
            <a:ext cx="4114800" cy="36576"/>
          </a:xfrm>
          <a:prstGeom prst="rect">
            <a:avLst/>
          </a:prstGeom>
          <a:solidFill>
            <a:srgbClr val="0E7C7B"/>
          </a:solidFill>
          <a:ln w="12700">
            <a:solidFill>
              <a:srgbClr val="0E7C7B"/>
            </a:solidFill>
            <a:prstDash val="solid"/>
          </a:ln>
        </p:spPr>
      </p:sp>
      <p:sp>
        <p:nvSpPr>
          <p:cNvPr id="6" name="Text 4"/>
          <p:cNvSpPr/>
          <p:nvPr/>
        </p:nvSpPr>
        <p:spPr>
          <a:xfrm>
            <a:off x="411480" y="1097280"/>
            <a:ext cx="502920" cy="59436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1005840" y="1143000"/>
            <a:ext cx="777240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Both Logistic Regression and XGBoost show modest but comparable discriminative performance (AUROC ~0.61), constrained by weak predictive signals in the dataset.</a:t>
            </a:r>
            <a:endParaRPr lang="en-US" sz="1250" dirty="0"/>
          </a:p>
        </p:txBody>
      </p:sp>
      <p:sp>
        <p:nvSpPr>
          <p:cNvPr id="8" name="Text 6"/>
          <p:cNvSpPr/>
          <p:nvPr/>
        </p:nvSpPr>
        <p:spPr>
          <a:xfrm>
            <a:off x="411480" y="1856232"/>
            <a:ext cx="502920" cy="59436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02</a:t>
            </a:r>
            <a:endParaRPr lang="en-US" sz="2000" dirty="0"/>
          </a:p>
        </p:txBody>
      </p:sp>
      <p:sp>
        <p:nvSpPr>
          <p:cNvPr id="9" name="Text 7"/>
          <p:cNvSpPr/>
          <p:nvPr/>
        </p:nvSpPr>
        <p:spPr>
          <a:xfrm>
            <a:off x="1005840" y="1901952"/>
            <a:ext cx="777240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Threshold optimisation produced sensitive safety-net models (~75% recall) — but with meaningful false-positive rates (~73%) that risk alarm fatigue in the ICU.</a:t>
            </a:r>
            <a:endParaRPr lang="en-US" sz="1250" dirty="0"/>
          </a:p>
        </p:txBody>
      </p:sp>
      <p:sp>
        <p:nvSpPr>
          <p:cNvPr id="10" name="Text 8"/>
          <p:cNvSpPr/>
          <p:nvPr/>
        </p:nvSpPr>
        <p:spPr>
          <a:xfrm>
            <a:off x="411480" y="2615184"/>
            <a:ext cx="502920" cy="59436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03</a:t>
            </a:r>
            <a:endParaRPr lang="en-US" sz="2000" dirty="0"/>
          </a:p>
        </p:txBody>
      </p:sp>
      <p:sp>
        <p:nvSpPr>
          <p:cNvPr id="11" name="Text 9"/>
          <p:cNvSpPr/>
          <p:nvPr/>
        </p:nvSpPr>
        <p:spPr>
          <a:xfrm>
            <a:off x="1005840" y="2660904"/>
            <a:ext cx="777240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Both models are well-calibrated (Brier ~0.171), meaning their predicted probabilities are genuinely trustworthy as risk estimates.</a:t>
            </a:r>
            <a:endParaRPr lang="en-US" sz="1250" dirty="0"/>
          </a:p>
        </p:txBody>
      </p:sp>
      <p:sp>
        <p:nvSpPr>
          <p:cNvPr id="12" name="Text 10"/>
          <p:cNvSpPr/>
          <p:nvPr/>
        </p:nvSpPr>
        <p:spPr>
          <a:xfrm>
            <a:off x="411480" y="3374136"/>
            <a:ext cx="502920" cy="59436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04</a:t>
            </a:r>
            <a:endParaRPr lang="en-US" sz="2000" dirty="0"/>
          </a:p>
        </p:txBody>
      </p:sp>
      <p:sp>
        <p:nvSpPr>
          <p:cNvPr id="13" name="Text 11"/>
          <p:cNvSpPr/>
          <p:nvPr/>
        </p:nvSpPr>
        <p:spPr>
          <a:xfrm>
            <a:off x="1005840" y="3419856"/>
            <a:ext cx="777240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Logistic Regression is the preferred model: equivalent performance, superior interpretability, and easier to explain to clinical teams.</a:t>
            </a:r>
            <a:endParaRPr lang="en-US" sz="1250" dirty="0"/>
          </a:p>
        </p:txBody>
      </p:sp>
      <p:sp>
        <p:nvSpPr>
          <p:cNvPr id="14" name="Text 12"/>
          <p:cNvSpPr/>
          <p:nvPr/>
        </p:nvSpPr>
        <p:spPr>
          <a:xfrm>
            <a:off x="411480" y="4133088"/>
            <a:ext cx="502920" cy="594360"/>
          </a:xfrm>
          <a:prstGeom prst="rect">
            <a:avLst/>
          </a:prstGeom>
          <a:noFill/>
          <a:ln/>
        </p:spPr>
        <p:txBody>
          <a:bodyPr wrap="square" lIns="0" tIns="0" rIns="0" bIns="0" rtlCol="0" anchor="ctr"/>
          <a:lstStyle/>
          <a:p>
            <a:pPr indent="0" marL="0">
              <a:buNone/>
            </a:pPr>
            <a:r>
              <a:rPr lang="en-US" sz="2000" b="1" dirty="0">
                <a:solidFill>
                  <a:srgbClr val="0E7C7B"/>
                </a:solidFill>
                <a:latin typeface="Calibri" pitchFamily="34" charset="0"/>
                <a:ea typeface="Calibri" pitchFamily="34" charset="-122"/>
                <a:cs typeface="Calibri" pitchFamily="34" charset="-120"/>
              </a:rPr>
              <a:t>05</a:t>
            </a:r>
            <a:endParaRPr lang="en-US" sz="2000" dirty="0"/>
          </a:p>
        </p:txBody>
      </p:sp>
      <p:sp>
        <p:nvSpPr>
          <p:cNvPr id="15" name="Text 13"/>
          <p:cNvSpPr/>
          <p:nvPr/>
        </p:nvSpPr>
        <p:spPr>
          <a:xfrm>
            <a:off x="1005840" y="4178808"/>
            <a:ext cx="777240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External validation, subgroup analysis, and prospective clinical testing are required before any real-world deployment.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2026-03-18T14:45:41Z</dcterms:created>
  <dcterms:modified xsi:type="dcterms:W3CDTF">2026-03-18T14:45:41Z</dcterms:modified>
</cp:coreProperties>
</file>